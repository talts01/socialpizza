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TT Hoves" panose="020B0604020202020204" charset="0"/>
      <p:regular r:id="rId12"/>
    </p:embeddedFont>
    <p:embeddedFont>
      <p:font typeface="TT Hoves Bold" panose="020B0604020202020204" charset="0"/>
      <p:regular r:id="rId13"/>
    </p:embeddedFont>
    <p:embeddedFont>
      <p:font typeface="TT Hoves Bold Italics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75" d="100"/>
          <a:sy n="75" d="100"/>
        </p:scale>
        <p:origin x="-65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107576" y="-2295434"/>
            <a:ext cx="11221859" cy="11221859"/>
          </a:xfrm>
          <a:custGeom>
            <a:avLst/>
            <a:gdLst/>
            <a:ahLst/>
            <a:cxnLst/>
            <a:rect l="l" t="t" r="r" b="b"/>
            <a:pathLst>
              <a:path w="11221859" h="11221859">
                <a:moveTo>
                  <a:pt x="0" y="0"/>
                </a:moveTo>
                <a:lnTo>
                  <a:pt x="11221858" y="0"/>
                </a:lnTo>
                <a:lnTo>
                  <a:pt x="11221858" y="11221859"/>
                </a:lnTo>
                <a:lnTo>
                  <a:pt x="0" y="11221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-696258" y="-450527"/>
            <a:ext cx="19680517" cy="1704491"/>
            <a:chOff x="0" y="0"/>
            <a:chExt cx="5183346" cy="4489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83346" cy="448919"/>
            </a:xfrm>
            <a:custGeom>
              <a:avLst/>
              <a:gdLst/>
              <a:ahLst/>
              <a:cxnLst/>
              <a:rect l="l" t="t" r="r" b="b"/>
              <a:pathLst>
                <a:path w="5183346" h="448919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solidFill>
              <a:srgbClr val="0003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5065" y="401718"/>
            <a:ext cx="16957869" cy="391161"/>
            <a:chOff x="0" y="0"/>
            <a:chExt cx="22610492" cy="521547"/>
          </a:xfrm>
        </p:grpSpPr>
        <p:sp>
          <p:nvSpPr>
            <p:cNvPr id="7" name="TextBox 7"/>
            <p:cNvSpPr txBox="1"/>
            <p:nvPr/>
          </p:nvSpPr>
          <p:spPr>
            <a:xfrm>
              <a:off x="18454064" y="-57150"/>
              <a:ext cx="4156429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AA 2025/26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7729"/>
              <a:ext cx="7540178" cy="4938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React + Typescript &amp; Java Spring Boot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82153" y="-57150"/>
              <a:ext cx="4156429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Tecnologie Web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910879" y="-57150"/>
              <a:ext cx="1875014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-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039108" y="-57150"/>
              <a:ext cx="1875014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-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420365" y="5567091"/>
            <a:ext cx="11985360" cy="2256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8"/>
              </a:lnSpc>
            </a:pPr>
            <a:r>
              <a:rPr lang="en-US" sz="12998" b="1" spc="-63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Social Pizza 🍕</a:t>
            </a:r>
          </a:p>
          <a:p>
            <a:pPr algn="l">
              <a:lnSpc>
                <a:spcPts val="5640"/>
              </a:lnSpc>
            </a:pPr>
            <a:r>
              <a:rPr lang="en-US" sz="6000" spc="-294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Progetto TWeb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20365" y="8680274"/>
            <a:ext cx="9956581" cy="578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81"/>
              </a:lnSpc>
            </a:pPr>
            <a:r>
              <a:rPr lang="en-US" sz="4381" spc="-87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Walter Barucco - Luigi Niso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874596" y="4443397"/>
            <a:ext cx="10012246" cy="3187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644"/>
              </a:lnSpc>
              <a:spcBef>
                <a:spcPct val="0"/>
              </a:spcBef>
            </a:pPr>
            <a:r>
              <a:rPr lang="en-US" sz="2699" spc="16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Una</a:t>
            </a:r>
            <a:r>
              <a:rPr lang="en-US" sz="2699" u="none" spc="16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piattaforma web che permette agli utenti di: </a:t>
            </a:r>
          </a:p>
          <a:p>
            <a:pPr marL="0" lvl="0" indent="0" algn="r">
              <a:lnSpc>
                <a:spcPts val="3644"/>
              </a:lnSpc>
              <a:spcBef>
                <a:spcPct val="0"/>
              </a:spcBef>
            </a:pPr>
            <a:r>
              <a:rPr lang="en-US" sz="2699" u="none" spc="16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 </a:t>
            </a:r>
          </a:p>
          <a:p>
            <a:pPr algn="r">
              <a:lnSpc>
                <a:spcPts val="3644"/>
              </a:lnSpc>
              <a:spcBef>
                <a:spcPct val="0"/>
              </a:spcBef>
            </a:pPr>
            <a:r>
              <a:rPr lang="en-US" sz="2699" u="none" spc="16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Organizzare eventi sociali in pizzerie 🍕  </a:t>
            </a:r>
          </a:p>
          <a:p>
            <a:pPr algn="r">
              <a:lnSpc>
                <a:spcPts val="3644"/>
              </a:lnSpc>
              <a:spcBef>
                <a:spcPct val="0"/>
              </a:spcBef>
            </a:pPr>
            <a:r>
              <a:rPr lang="en-US" sz="2699" u="none" spc="16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 Scoprire e partecipare a serate in compagnia 👥  </a:t>
            </a:r>
          </a:p>
          <a:p>
            <a:pPr algn="r">
              <a:lnSpc>
                <a:spcPts val="3644"/>
              </a:lnSpc>
              <a:spcBef>
                <a:spcPct val="0"/>
              </a:spcBef>
            </a:pPr>
            <a:r>
              <a:rPr lang="en-US" sz="2699" u="none" spc="16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Trovare eventi per città e categoria 📍  </a:t>
            </a:r>
          </a:p>
          <a:p>
            <a:pPr algn="r">
              <a:lnSpc>
                <a:spcPts val="3644"/>
              </a:lnSpc>
              <a:spcBef>
                <a:spcPct val="0"/>
              </a:spcBef>
            </a:pPr>
            <a:r>
              <a:rPr lang="en-US" sz="2699" u="none" spc="16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Sistema di moderazione per eventi di qualità ✅  </a:t>
            </a:r>
          </a:p>
          <a:p>
            <a:pPr marL="0" lvl="0" indent="0" algn="r">
              <a:lnSpc>
                <a:spcPts val="3644"/>
              </a:lnSpc>
              <a:spcBef>
                <a:spcPct val="0"/>
              </a:spcBef>
            </a:pPr>
            <a:endParaRPr lang="en-US" sz="2699" u="none" spc="161">
              <a:solidFill>
                <a:srgbClr val="343434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-696258" y="-976142"/>
            <a:ext cx="7178388" cy="11878896"/>
            <a:chOff x="0" y="0"/>
            <a:chExt cx="1890604" cy="31285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90604" cy="3128598"/>
            </a:xfrm>
            <a:custGeom>
              <a:avLst/>
              <a:gdLst/>
              <a:ahLst/>
              <a:cxnLst/>
              <a:rect l="l" t="t" r="r" b="b"/>
              <a:pathLst>
                <a:path w="1890604" h="3128598">
                  <a:moveTo>
                    <a:pt x="0" y="0"/>
                  </a:moveTo>
                  <a:lnTo>
                    <a:pt x="1890604" y="0"/>
                  </a:lnTo>
                  <a:lnTo>
                    <a:pt x="1890604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890604" cy="3185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263798" y="-4131629"/>
            <a:ext cx="7991003" cy="7991003"/>
          </a:xfrm>
          <a:custGeom>
            <a:avLst/>
            <a:gdLst/>
            <a:ahLst/>
            <a:cxnLst/>
            <a:rect l="l" t="t" r="r" b="b"/>
            <a:pathLst>
              <a:path w="7991003" h="7991003">
                <a:moveTo>
                  <a:pt x="0" y="0"/>
                </a:moveTo>
                <a:lnTo>
                  <a:pt x="7991004" y="0"/>
                </a:lnTo>
                <a:lnTo>
                  <a:pt x="7991004" y="7991003"/>
                </a:lnTo>
                <a:lnTo>
                  <a:pt x="0" y="7991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8126267" y="2679414"/>
            <a:ext cx="9760574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460"/>
              </a:lnSpc>
            </a:pPr>
            <a:r>
              <a:rPr lang="en-US" sz="9000" b="1" spc="-44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Cos'è SocialPizza?</a:t>
            </a:r>
          </a:p>
        </p:txBody>
      </p:sp>
      <p:sp>
        <p:nvSpPr>
          <p:cNvPr id="8" name="TextBox 8"/>
          <p:cNvSpPr txBox="1"/>
          <p:nvPr/>
        </p:nvSpPr>
        <p:spPr>
          <a:xfrm rot="-5400000">
            <a:off x="4153815" y="7844385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Social Pizza</a:t>
            </a:r>
          </a:p>
        </p:txBody>
      </p:sp>
      <p:sp>
        <p:nvSpPr>
          <p:cNvPr id="9" name="TextBox 9"/>
          <p:cNvSpPr txBox="1"/>
          <p:nvPr/>
        </p:nvSpPr>
        <p:spPr>
          <a:xfrm rot="-5400000">
            <a:off x="4153815" y="2076558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AA 2025/26</a:t>
            </a:r>
          </a:p>
        </p:txBody>
      </p:sp>
      <p:sp>
        <p:nvSpPr>
          <p:cNvPr id="10" name="TextBox 10"/>
          <p:cNvSpPr txBox="1"/>
          <p:nvPr/>
        </p:nvSpPr>
        <p:spPr>
          <a:xfrm rot="-5400000">
            <a:off x="5009345" y="4960472"/>
            <a:ext cx="140626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-1725735" y="6821207"/>
            <a:ext cx="5508869" cy="4832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sz="37888" b="1" spc="-1856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805628" y="-3991568"/>
            <a:ext cx="9598990" cy="9598990"/>
          </a:xfrm>
          <a:custGeom>
            <a:avLst/>
            <a:gdLst/>
            <a:ahLst/>
            <a:cxnLst/>
            <a:rect l="l" t="t" r="r" b="b"/>
            <a:pathLst>
              <a:path w="9598990" h="9598990">
                <a:moveTo>
                  <a:pt x="0" y="0"/>
                </a:moveTo>
                <a:lnTo>
                  <a:pt x="9598990" y="0"/>
                </a:lnTo>
                <a:lnTo>
                  <a:pt x="9598990" y="9598990"/>
                </a:lnTo>
                <a:lnTo>
                  <a:pt x="0" y="95989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1495425" y="5969820"/>
            <a:ext cx="7648575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99"/>
              </a:lnSpc>
              <a:spcBef>
                <a:spcPct val="0"/>
              </a:spcBef>
            </a:pPr>
            <a:r>
              <a:rPr lang="en-US" sz="1999" u="none" spc="119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L'architettura si basa su un approccio Full-Stack disaccoppiato: il Backend in Spring Boot gestisce la logica di business e la persistenza dei dati tramite repository JPA, mentre il Frontend in React garantisce un'interfaccia utente dinamica e reattiva. La comunicazione tra le parti avviene tramite API REST asincrone, protette da un filtro di sicurezza per la gestione della sessione.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962015" y="645728"/>
            <a:ext cx="6998061" cy="2561528"/>
            <a:chOff x="0" y="0"/>
            <a:chExt cx="2342659" cy="8574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42659" cy="857492"/>
            </a:xfrm>
            <a:custGeom>
              <a:avLst/>
              <a:gdLst/>
              <a:ahLst/>
              <a:cxnLst/>
              <a:rect l="l" t="t" r="r" b="b"/>
              <a:pathLst>
                <a:path w="2342659" h="857492">
                  <a:moveTo>
                    <a:pt x="0" y="0"/>
                  </a:moveTo>
                  <a:lnTo>
                    <a:pt x="2342659" y="0"/>
                  </a:lnTo>
                  <a:lnTo>
                    <a:pt x="2342659" y="857492"/>
                  </a:lnTo>
                  <a:lnTo>
                    <a:pt x="0" y="857492"/>
                  </a:lnTo>
                  <a:close/>
                </a:path>
              </a:pathLst>
            </a:custGeom>
            <a:solidFill>
              <a:srgbClr val="0003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04775"/>
              <a:ext cx="2342659" cy="752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962015" y="3338203"/>
            <a:ext cx="6998061" cy="2561528"/>
            <a:chOff x="0" y="0"/>
            <a:chExt cx="2342659" cy="8574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42659" cy="857492"/>
            </a:xfrm>
            <a:custGeom>
              <a:avLst/>
              <a:gdLst/>
              <a:ahLst/>
              <a:cxnLst/>
              <a:rect l="l" t="t" r="r" b="b"/>
              <a:pathLst>
                <a:path w="2342659" h="857492">
                  <a:moveTo>
                    <a:pt x="0" y="0"/>
                  </a:moveTo>
                  <a:lnTo>
                    <a:pt x="2342659" y="0"/>
                  </a:lnTo>
                  <a:lnTo>
                    <a:pt x="2342659" y="857492"/>
                  </a:lnTo>
                  <a:lnTo>
                    <a:pt x="0" y="857492"/>
                  </a:lnTo>
                  <a:close/>
                </a:path>
              </a:pathLst>
            </a:custGeom>
            <a:solidFill>
              <a:srgbClr val="0003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04775"/>
              <a:ext cx="2342659" cy="752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588213" y="6833181"/>
            <a:ext cx="7498697" cy="4832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sz="37888" b="1" spc="-18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962015" y="6033081"/>
            <a:ext cx="6998061" cy="2561528"/>
            <a:chOff x="0" y="0"/>
            <a:chExt cx="2342659" cy="85749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42659" cy="857492"/>
            </a:xfrm>
            <a:custGeom>
              <a:avLst/>
              <a:gdLst/>
              <a:ahLst/>
              <a:cxnLst/>
              <a:rect l="l" t="t" r="r" b="b"/>
              <a:pathLst>
                <a:path w="2342659" h="857492">
                  <a:moveTo>
                    <a:pt x="0" y="0"/>
                  </a:moveTo>
                  <a:lnTo>
                    <a:pt x="2342659" y="0"/>
                  </a:lnTo>
                  <a:lnTo>
                    <a:pt x="2342659" y="857492"/>
                  </a:lnTo>
                  <a:lnTo>
                    <a:pt x="0" y="857492"/>
                  </a:lnTo>
                  <a:close/>
                </a:path>
              </a:pathLst>
            </a:custGeom>
            <a:solidFill>
              <a:srgbClr val="0003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04775"/>
              <a:ext cx="2342659" cy="752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478199" y="1499768"/>
            <a:ext cx="1578952" cy="103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8000" spc="-656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01.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78199" y="4192243"/>
            <a:ext cx="1578952" cy="103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8000" spc="-656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02.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78199" y="6887121"/>
            <a:ext cx="1578952" cy="103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8000" spc="-656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03.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57151" y="1615245"/>
            <a:ext cx="4132127" cy="1183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62" lvl="1" indent="-151131" algn="just">
              <a:lnSpc>
                <a:spcPts val="1890"/>
              </a:lnSpc>
              <a:spcBef>
                <a:spcPct val="0"/>
              </a:spcBef>
              <a:buFont typeface="Arial"/>
              <a:buChar char="•"/>
            </a:pPr>
            <a:r>
              <a:rPr lang="en-US" sz="1400" spc="22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R</a:t>
            </a:r>
            <a:r>
              <a:rPr lang="en-US" sz="1400" u="none" spc="22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eact 18 + TypeScript</a:t>
            </a:r>
          </a:p>
          <a:p>
            <a:pPr marL="302262" lvl="1" indent="-151131" algn="just">
              <a:lnSpc>
                <a:spcPts val="1890"/>
              </a:lnSpc>
              <a:spcBef>
                <a:spcPct val="0"/>
              </a:spcBef>
              <a:buFont typeface="Arial"/>
              <a:buChar char="•"/>
            </a:pPr>
            <a:r>
              <a:rPr lang="en-US" sz="1400" u="none" spc="22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React Router v6</a:t>
            </a:r>
          </a:p>
          <a:p>
            <a:pPr marL="302262" lvl="1" indent="-151131" algn="just">
              <a:lnSpc>
                <a:spcPts val="1890"/>
              </a:lnSpc>
              <a:spcBef>
                <a:spcPct val="0"/>
              </a:spcBef>
              <a:buFont typeface="Arial"/>
              <a:buChar char="•"/>
            </a:pPr>
            <a:r>
              <a:rPr lang="en-US" sz="1400" u="none" spc="22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CSS Modules</a:t>
            </a:r>
          </a:p>
          <a:p>
            <a:pPr marL="302262" lvl="1" indent="-151131" algn="just">
              <a:lnSpc>
                <a:spcPts val="1890"/>
              </a:lnSpc>
              <a:spcBef>
                <a:spcPct val="0"/>
              </a:spcBef>
              <a:buFont typeface="Arial"/>
              <a:buChar char="•"/>
            </a:pPr>
            <a:r>
              <a:rPr lang="en-US" sz="1400" u="none" spc="22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Fetch API</a:t>
            </a:r>
          </a:p>
          <a:p>
            <a:pPr marL="0" lvl="0" indent="0" algn="just">
              <a:lnSpc>
                <a:spcPts val="1890"/>
              </a:lnSpc>
              <a:spcBef>
                <a:spcPct val="0"/>
              </a:spcBef>
            </a:pPr>
            <a:endParaRPr lang="en-US" sz="1400" u="none" spc="22">
              <a:solidFill>
                <a:srgbClr val="EFEFEF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057151" y="4307720"/>
            <a:ext cx="4132127" cy="1183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62" lvl="1" indent="-151131" algn="just">
              <a:lnSpc>
                <a:spcPts val="1890"/>
              </a:lnSpc>
              <a:spcBef>
                <a:spcPct val="0"/>
              </a:spcBef>
              <a:buFont typeface="Arial"/>
              <a:buChar char="•"/>
            </a:pPr>
            <a:r>
              <a:rPr lang="en-US" sz="1400" spc="22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Spring Boo</a:t>
            </a:r>
            <a:r>
              <a:rPr lang="en-US" sz="1400" u="none" spc="22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t 3.x</a:t>
            </a:r>
          </a:p>
          <a:p>
            <a:pPr marL="302262" lvl="1" indent="-151131" algn="just">
              <a:lnSpc>
                <a:spcPts val="1890"/>
              </a:lnSpc>
              <a:spcBef>
                <a:spcPct val="0"/>
              </a:spcBef>
              <a:buFont typeface="Arial"/>
              <a:buChar char="•"/>
            </a:pPr>
            <a:r>
              <a:rPr lang="en-US" sz="1400" u="none" spc="22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Spring Security + JWT</a:t>
            </a:r>
          </a:p>
          <a:p>
            <a:pPr marL="302262" lvl="1" indent="-151131" algn="just">
              <a:lnSpc>
                <a:spcPts val="1890"/>
              </a:lnSpc>
              <a:spcBef>
                <a:spcPct val="0"/>
              </a:spcBef>
              <a:buFont typeface="Arial"/>
              <a:buChar char="•"/>
            </a:pPr>
            <a:r>
              <a:rPr lang="en-US" sz="1400" u="none" spc="22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Spring Data JPA</a:t>
            </a:r>
          </a:p>
          <a:p>
            <a:pPr marL="302262" lvl="1" indent="-151131" algn="just">
              <a:lnSpc>
                <a:spcPts val="1890"/>
              </a:lnSpc>
              <a:spcBef>
                <a:spcPct val="0"/>
              </a:spcBef>
              <a:buFont typeface="Arial"/>
              <a:buChar char="•"/>
            </a:pPr>
            <a:r>
              <a:rPr lang="en-US" sz="1400" u="none" spc="22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Hibernate</a:t>
            </a:r>
          </a:p>
          <a:p>
            <a:pPr marL="0" lvl="0" indent="0" algn="just">
              <a:lnSpc>
                <a:spcPts val="1890"/>
              </a:lnSpc>
              <a:spcBef>
                <a:spcPct val="0"/>
              </a:spcBef>
            </a:pPr>
            <a:endParaRPr lang="en-US" sz="1400" u="none" spc="22">
              <a:solidFill>
                <a:srgbClr val="EFEFEF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2057151" y="7002597"/>
            <a:ext cx="4132127" cy="70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62" lvl="1" indent="-151131" algn="just">
              <a:lnSpc>
                <a:spcPts val="1890"/>
              </a:lnSpc>
              <a:spcBef>
                <a:spcPct val="0"/>
              </a:spcBef>
              <a:buFont typeface="Arial"/>
              <a:buChar char="•"/>
            </a:pPr>
            <a:r>
              <a:rPr lang="en-US" sz="1400" spc="22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MySQL</a:t>
            </a:r>
            <a:r>
              <a:rPr lang="en-US" sz="1400" u="none" spc="22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 8.0</a:t>
            </a:r>
          </a:p>
          <a:p>
            <a:pPr marL="302262" lvl="1" indent="-151131" algn="just">
              <a:lnSpc>
                <a:spcPts val="1890"/>
              </a:lnSpc>
              <a:spcBef>
                <a:spcPct val="0"/>
              </a:spcBef>
              <a:buFont typeface="Arial"/>
              <a:buChar char="•"/>
            </a:pPr>
            <a:r>
              <a:rPr lang="en-US" sz="1400" u="none" spc="22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Schema relazionale normalizzato</a:t>
            </a:r>
          </a:p>
          <a:p>
            <a:pPr marL="0" lvl="0" indent="0" algn="just">
              <a:lnSpc>
                <a:spcPts val="1890"/>
              </a:lnSpc>
              <a:spcBef>
                <a:spcPct val="0"/>
              </a:spcBef>
            </a:pPr>
            <a:endParaRPr lang="en-US" sz="1400" u="none" spc="22">
              <a:solidFill>
                <a:srgbClr val="EFEFEF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495425" y="3384816"/>
            <a:ext cx="7639050" cy="2613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80"/>
              </a:lnSpc>
            </a:pPr>
            <a:r>
              <a:rPr lang="en-US" sz="9695" b="1" spc="-47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Tecnologie Utilizzate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057151" y="1129470"/>
            <a:ext cx="4132127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 b="1" spc="-147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Frontend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205435" y="3820768"/>
            <a:ext cx="4132127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 b="1" spc="-147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Backend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205435" y="6515646"/>
            <a:ext cx="4132127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 b="1" spc="-147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Database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37671" y="5020368"/>
            <a:ext cx="9296603" cy="208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74"/>
              </a:lnSpc>
              <a:spcBef>
                <a:spcPct val="0"/>
              </a:spcBef>
            </a:pPr>
            <a:r>
              <a:rPr lang="en-US" sz="2499" b="1" u="none" spc="149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Single-Page-Application (SPA) </a:t>
            </a:r>
          </a:p>
          <a:p>
            <a:pPr marL="0" lvl="0" indent="0" algn="l">
              <a:lnSpc>
                <a:spcPts val="3374"/>
              </a:lnSpc>
              <a:spcBef>
                <a:spcPct val="0"/>
              </a:spcBef>
            </a:pPr>
            <a:r>
              <a:rPr lang="en-US" sz="2499" u="none" spc="149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L’applicazione carica un’unica pagina HTML e aggiorna i contenuti tramite lo stato 'currentPage' di React. Tra i moduli principali: Organizza, Miei Eventi, Dashboard Ristoratore, Area Admin.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706356" y="3384337"/>
            <a:ext cx="13644680" cy="132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80"/>
              </a:lnSpc>
            </a:pPr>
            <a:r>
              <a:rPr lang="en-US" sz="9695" b="1" spc="-47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Tipologia di Applicazione</a:t>
            </a:r>
          </a:p>
        </p:txBody>
      </p:sp>
      <p:sp>
        <p:nvSpPr>
          <p:cNvPr id="4" name="Freeform 4"/>
          <p:cNvSpPr/>
          <p:nvPr/>
        </p:nvSpPr>
        <p:spPr>
          <a:xfrm>
            <a:off x="9560011" y="-2564899"/>
            <a:ext cx="16075318" cy="16075318"/>
          </a:xfrm>
          <a:custGeom>
            <a:avLst/>
            <a:gdLst/>
            <a:ahLst/>
            <a:cxnLst/>
            <a:rect l="l" t="t" r="r" b="b"/>
            <a:pathLst>
              <a:path w="16075318" h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5" name="Group 5"/>
          <p:cNvGrpSpPr/>
          <p:nvPr/>
        </p:nvGrpSpPr>
        <p:grpSpPr>
          <a:xfrm>
            <a:off x="-696258" y="-976142"/>
            <a:ext cx="2222590" cy="11878896"/>
            <a:chOff x="0" y="0"/>
            <a:chExt cx="585373" cy="31285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5373" cy="3128598"/>
            </a:xfrm>
            <a:custGeom>
              <a:avLst/>
              <a:gdLst/>
              <a:ahLst/>
              <a:cxnLst/>
              <a:rect l="l" t="t" r="r" b="b"/>
              <a:pathLst>
                <a:path w="585373" h="3128598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 rot="-5400000">
            <a:off x="-849366" y="7803258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Social Pizza</a:t>
            </a:r>
          </a:p>
        </p:txBody>
      </p:sp>
      <p:sp>
        <p:nvSpPr>
          <p:cNvPr id="9" name="TextBox 9"/>
          <p:cNvSpPr txBox="1"/>
          <p:nvPr/>
        </p:nvSpPr>
        <p:spPr>
          <a:xfrm rot="-5400000">
            <a:off x="-849366" y="2035431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AA 2025/26</a:t>
            </a:r>
          </a:p>
        </p:txBody>
      </p:sp>
      <p:sp>
        <p:nvSpPr>
          <p:cNvPr id="10" name="TextBox 10"/>
          <p:cNvSpPr txBox="1"/>
          <p:nvPr/>
        </p:nvSpPr>
        <p:spPr>
          <a:xfrm rot="-5400000">
            <a:off x="6164" y="4919345"/>
            <a:ext cx="140626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601687" y="6540872"/>
            <a:ext cx="7498697" cy="4832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sz="37888" b="1" spc="-18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870404" y="-327462"/>
            <a:ext cx="6393149" cy="4116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64"/>
              </a:lnSpc>
            </a:pPr>
            <a:r>
              <a:rPr lang="en-US" sz="32302" b="1" spc="-158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  <p:sp>
        <p:nvSpPr>
          <p:cNvPr id="3" name="Freeform 3"/>
          <p:cNvSpPr/>
          <p:nvPr/>
        </p:nvSpPr>
        <p:spPr>
          <a:xfrm>
            <a:off x="9555412" y="-7939543"/>
            <a:ext cx="14102688" cy="14102688"/>
          </a:xfrm>
          <a:custGeom>
            <a:avLst/>
            <a:gdLst/>
            <a:ahLst/>
            <a:cxnLst/>
            <a:rect l="l" t="t" r="r" b="b"/>
            <a:pathLst>
              <a:path w="14102688" h="14102688">
                <a:moveTo>
                  <a:pt x="0" y="0"/>
                </a:moveTo>
                <a:lnTo>
                  <a:pt x="14102688" y="0"/>
                </a:lnTo>
                <a:lnTo>
                  <a:pt x="14102688" y="14102689"/>
                </a:lnTo>
                <a:lnTo>
                  <a:pt x="0" y="141026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" name="Group 4"/>
          <p:cNvGrpSpPr/>
          <p:nvPr/>
        </p:nvGrpSpPr>
        <p:grpSpPr>
          <a:xfrm>
            <a:off x="-696258" y="9258300"/>
            <a:ext cx="19680517" cy="1115933"/>
            <a:chOff x="0" y="0"/>
            <a:chExt cx="5183346" cy="2939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83346" cy="293908"/>
            </a:xfrm>
            <a:custGeom>
              <a:avLst/>
              <a:gdLst/>
              <a:ahLst/>
              <a:cxnLst/>
              <a:rect l="l" t="t" r="r" b="b"/>
              <a:pathLst>
                <a:path w="5183346" h="293908">
                  <a:moveTo>
                    <a:pt x="0" y="0"/>
                  </a:moveTo>
                  <a:lnTo>
                    <a:pt x="5183346" y="0"/>
                  </a:lnTo>
                  <a:lnTo>
                    <a:pt x="5183346" y="293908"/>
                  </a:lnTo>
                  <a:lnTo>
                    <a:pt x="0" y="293908"/>
                  </a:lnTo>
                  <a:close/>
                </a:path>
              </a:pathLst>
            </a:custGeom>
            <a:solidFill>
              <a:srgbClr val="0003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183346" cy="351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572213" y="1491846"/>
            <a:ext cx="3147617" cy="1032394"/>
            <a:chOff x="0" y="0"/>
            <a:chExt cx="1011174" cy="3317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11174" cy="331704"/>
            </a:xfrm>
            <a:custGeom>
              <a:avLst/>
              <a:gdLst/>
              <a:ahLst/>
              <a:cxnLst/>
              <a:rect l="l" t="t" r="r" b="b"/>
              <a:pathLst>
                <a:path w="1011174" h="331704">
                  <a:moveTo>
                    <a:pt x="1011174" y="34435"/>
                  </a:moveTo>
                  <a:lnTo>
                    <a:pt x="1011174" y="297269"/>
                  </a:lnTo>
                  <a:cubicBezTo>
                    <a:pt x="1011174" y="316287"/>
                    <a:pt x="995757" y="331704"/>
                    <a:pt x="976739" y="331704"/>
                  </a:cubicBezTo>
                  <a:lnTo>
                    <a:pt x="34435" y="331704"/>
                  </a:lnTo>
                  <a:cubicBezTo>
                    <a:pt x="25302" y="331704"/>
                    <a:pt x="16543" y="328076"/>
                    <a:pt x="10086" y="321618"/>
                  </a:cubicBezTo>
                  <a:cubicBezTo>
                    <a:pt x="3628" y="315160"/>
                    <a:pt x="0" y="306402"/>
                    <a:pt x="0" y="297269"/>
                  </a:cubicBezTo>
                  <a:lnTo>
                    <a:pt x="0" y="34435"/>
                  </a:lnTo>
                  <a:cubicBezTo>
                    <a:pt x="0" y="25302"/>
                    <a:pt x="3628" y="16543"/>
                    <a:pt x="10086" y="10086"/>
                  </a:cubicBezTo>
                  <a:cubicBezTo>
                    <a:pt x="16543" y="3628"/>
                    <a:pt x="25302" y="0"/>
                    <a:pt x="34435" y="0"/>
                  </a:cubicBezTo>
                  <a:lnTo>
                    <a:pt x="976739" y="0"/>
                  </a:lnTo>
                  <a:cubicBezTo>
                    <a:pt x="985872" y="0"/>
                    <a:pt x="994631" y="3628"/>
                    <a:pt x="1001088" y="10086"/>
                  </a:cubicBezTo>
                  <a:cubicBezTo>
                    <a:pt x="1007546" y="16543"/>
                    <a:pt x="1011174" y="25302"/>
                    <a:pt x="1011174" y="34435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0103A2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011174" cy="388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r>
                <a:rPr lang="en-US" sz="3199" b="1">
                  <a:solidFill>
                    <a:srgbClr val="0103A2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App.tsx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586728" y="1104432"/>
            <a:ext cx="1118587" cy="452196"/>
            <a:chOff x="0" y="0"/>
            <a:chExt cx="1094724" cy="442549"/>
          </a:xfrm>
        </p:grpSpPr>
        <p:sp>
          <p:nvSpPr>
            <p:cNvPr id="11" name="Freeform 11"/>
            <p:cNvSpPr/>
            <p:nvPr/>
          </p:nvSpPr>
          <p:spPr>
            <a:xfrm>
              <a:off x="19865" y="0"/>
              <a:ext cx="1054993" cy="442549"/>
            </a:xfrm>
            <a:custGeom>
              <a:avLst/>
              <a:gdLst/>
              <a:ahLst/>
              <a:cxnLst/>
              <a:rect l="l" t="t" r="r" b="b"/>
              <a:pathLst>
                <a:path w="1054993" h="442549">
                  <a:moveTo>
                    <a:pt x="238704" y="0"/>
                  </a:moveTo>
                  <a:lnTo>
                    <a:pt x="816289" y="0"/>
                  </a:lnTo>
                  <a:cubicBezTo>
                    <a:pt x="850032" y="0"/>
                    <a:pt x="880683" y="19654"/>
                    <a:pt x="894763" y="50319"/>
                  </a:cubicBezTo>
                  <a:lnTo>
                    <a:pt x="1051755" y="392231"/>
                  </a:lnTo>
                  <a:cubicBezTo>
                    <a:pt x="1056802" y="403223"/>
                    <a:pt x="1055906" y="416028"/>
                    <a:pt x="1049377" y="426210"/>
                  </a:cubicBezTo>
                  <a:cubicBezTo>
                    <a:pt x="1042848" y="436392"/>
                    <a:pt x="1031585" y="442549"/>
                    <a:pt x="1019489" y="442549"/>
                  </a:cubicBezTo>
                  <a:lnTo>
                    <a:pt x="35504" y="442549"/>
                  </a:lnTo>
                  <a:cubicBezTo>
                    <a:pt x="23409" y="442549"/>
                    <a:pt x="12146" y="436392"/>
                    <a:pt x="5617" y="426210"/>
                  </a:cubicBezTo>
                  <a:cubicBezTo>
                    <a:pt x="-912" y="416028"/>
                    <a:pt x="-1808" y="403223"/>
                    <a:pt x="3239" y="392231"/>
                  </a:cubicBezTo>
                  <a:lnTo>
                    <a:pt x="160231" y="50319"/>
                  </a:lnTo>
                  <a:cubicBezTo>
                    <a:pt x="174311" y="19654"/>
                    <a:pt x="204962" y="0"/>
                    <a:pt x="2387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0103A2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7000" y="-28575"/>
              <a:ext cx="840724" cy="4711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r>
                <a:rPr lang="en-US" sz="1400" b="1">
                  <a:solidFill>
                    <a:srgbClr val="0103A2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Root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08575" y="2706640"/>
            <a:ext cx="3406882" cy="672218"/>
            <a:chOff x="0" y="0"/>
            <a:chExt cx="1011174" cy="19954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11174" cy="199544"/>
            </a:xfrm>
            <a:custGeom>
              <a:avLst/>
              <a:gdLst/>
              <a:ahLst/>
              <a:cxnLst/>
              <a:rect l="l" t="t" r="r" b="b"/>
              <a:pathLst>
                <a:path w="1011174" h="199544">
                  <a:moveTo>
                    <a:pt x="1011174" y="31814"/>
                  </a:moveTo>
                  <a:lnTo>
                    <a:pt x="1011174" y="167730"/>
                  </a:lnTo>
                  <a:cubicBezTo>
                    <a:pt x="1011174" y="185301"/>
                    <a:pt x="996930" y="199544"/>
                    <a:pt x="979360" y="199544"/>
                  </a:cubicBezTo>
                  <a:lnTo>
                    <a:pt x="31814" y="199544"/>
                  </a:lnTo>
                  <a:cubicBezTo>
                    <a:pt x="14244" y="199544"/>
                    <a:pt x="0" y="185301"/>
                    <a:pt x="0" y="167730"/>
                  </a:cubicBezTo>
                  <a:lnTo>
                    <a:pt x="0" y="31814"/>
                  </a:lnTo>
                  <a:cubicBezTo>
                    <a:pt x="0" y="23376"/>
                    <a:pt x="3352" y="15284"/>
                    <a:pt x="9318" y="9318"/>
                  </a:cubicBezTo>
                  <a:cubicBezTo>
                    <a:pt x="15284" y="3352"/>
                    <a:pt x="23376" y="0"/>
                    <a:pt x="31814" y="0"/>
                  </a:cubicBezTo>
                  <a:lnTo>
                    <a:pt x="979360" y="0"/>
                  </a:lnTo>
                  <a:cubicBezTo>
                    <a:pt x="987798" y="0"/>
                    <a:pt x="995890" y="3352"/>
                    <a:pt x="1001856" y="9318"/>
                  </a:cubicBezTo>
                  <a:cubicBezTo>
                    <a:pt x="1007822" y="15284"/>
                    <a:pt x="1011174" y="23376"/>
                    <a:pt x="1011174" y="31814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64DBB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011174" cy="2566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r>
                <a:rPr lang="en-US" sz="2299" b="1">
                  <a:solidFill>
                    <a:srgbClr val="564DBB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Header.tsx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199465" y="3492435"/>
            <a:ext cx="2585005" cy="432143"/>
            <a:chOff x="0" y="0"/>
            <a:chExt cx="812800" cy="13587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135878"/>
            </a:xfrm>
            <a:custGeom>
              <a:avLst/>
              <a:gdLst/>
              <a:ahLst/>
              <a:cxnLst/>
              <a:rect l="l" t="t" r="r" b="b"/>
              <a:pathLst>
                <a:path w="812800" h="135878">
                  <a:moveTo>
                    <a:pt x="67939" y="0"/>
                  </a:moveTo>
                  <a:lnTo>
                    <a:pt x="744861" y="0"/>
                  </a:lnTo>
                  <a:cubicBezTo>
                    <a:pt x="782383" y="0"/>
                    <a:pt x="812800" y="30417"/>
                    <a:pt x="812800" y="67939"/>
                  </a:cubicBezTo>
                  <a:lnTo>
                    <a:pt x="812800" y="67939"/>
                  </a:lnTo>
                  <a:cubicBezTo>
                    <a:pt x="812800" y="105461"/>
                    <a:pt x="782383" y="135878"/>
                    <a:pt x="744861" y="135878"/>
                  </a:cubicBezTo>
                  <a:lnTo>
                    <a:pt x="67939" y="135878"/>
                  </a:lnTo>
                  <a:cubicBezTo>
                    <a:pt x="30417" y="135878"/>
                    <a:pt x="0" y="105461"/>
                    <a:pt x="0" y="67939"/>
                  </a:cubicBezTo>
                  <a:lnTo>
                    <a:pt x="0" y="67939"/>
                  </a:lnTo>
                  <a:cubicBezTo>
                    <a:pt x="0" y="30417"/>
                    <a:pt x="30417" y="0"/>
                    <a:pt x="6793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rnd">
              <a:solidFill>
                <a:srgbClr val="9084F9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812800" cy="1549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r>
                <a:rPr lang="en-US" sz="1300" b="1">
                  <a:solidFill>
                    <a:srgbClr val="9084F9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User info + Logout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1839561" y="3708506"/>
            <a:ext cx="359904" cy="0"/>
          </a:xfrm>
          <a:prstGeom prst="line">
            <a:avLst/>
          </a:prstGeom>
          <a:ln w="38100" cap="flat">
            <a:solidFill>
              <a:srgbClr val="9084F9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sp>
        <p:nvSpPr>
          <p:cNvPr id="20" name="AutoShape 20"/>
          <p:cNvSpPr/>
          <p:nvPr/>
        </p:nvSpPr>
        <p:spPr>
          <a:xfrm>
            <a:off x="1858611" y="3378858"/>
            <a:ext cx="0" cy="360129"/>
          </a:xfrm>
          <a:prstGeom prst="line">
            <a:avLst/>
          </a:prstGeom>
          <a:ln w="38100" cap="flat">
            <a:solidFill>
              <a:srgbClr val="9084F9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21" name="AutoShape 21"/>
          <p:cNvSpPr/>
          <p:nvPr/>
        </p:nvSpPr>
        <p:spPr>
          <a:xfrm flipH="1">
            <a:off x="1248671" y="2008043"/>
            <a:ext cx="1323763" cy="0"/>
          </a:xfrm>
          <a:prstGeom prst="line">
            <a:avLst/>
          </a:prstGeom>
          <a:ln w="38100" cap="flat">
            <a:solidFill>
              <a:srgbClr val="564DBB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grpSp>
        <p:nvGrpSpPr>
          <p:cNvPr id="22" name="Group 22"/>
          <p:cNvGrpSpPr/>
          <p:nvPr/>
        </p:nvGrpSpPr>
        <p:grpSpPr>
          <a:xfrm>
            <a:off x="2199465" y="5034946"/>
            <a:ext cx="2585005" cy="432143"/>
            <a:chOff x="0" y="0"/>
            <a:chExt cx="812800" cy="13587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135878"/>
            </a:xfrm>
            <a:custGeom>
              <a:avLst/>
              <a:gdLst/>
              <a:ahLst/>
              <a:cxnLst/>
              <a:rect l="l" t="t" r="r" b="b"/>
              <a:pathLst>
                <a:path w="812800" h="135878">
                  <a:moveTo>
                    <a:pt x="67939" y="0"/>
                  </a:moveTo>
                  <a:lnTo>
                    <a:pt x="744861" y="0"/>
                  </a:lnTo>
                  <a:cubicBezTo>
                    <a:pt x="782383" y="0"/>
                    <a:pt x="812800" y="30417"/>
                    <a:pt x="812800" y="67939"/>
                  </a:cubicBezTo>
                  <a:lnTo>
                    <a:pt x="812800" y="67939"/>
                  </a:lnTo>
                  <a:cubicBezTo>
                    <a:pt x="812800" y="105461"/>
                    <a:pt x="782383" y="135878"/>
                    <a:pt x="744861" y="135878"/>
                  </a:cubicBezTo>
                  <a:lnTo>
                    <a:pt x="67939" y="135878"/>
                  </a:lnTo>
                  <a:cubicBezTo>
                    <a:pt x="30417" y="135878"/>
                    <a:pt x="0" y="105461"/>
                    <a:pt x="0" y="67939"/>
                  </a:cubicBezTo>
                  <a:lnTo>
                    <a:pt x="0" y="67939"/>
                  </a:lnTo>
                  <a:cubicBezTo>
                    <a:pt x="0" y="30417"/>
                    <a:pt x="30417" y="0"/>
                    <a:pt x="6793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rnd">
              <a:solidFill>
                <a:srgbClr val="9084F9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812800" cy="1549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r>
                <a:rPr lang="en-US" sz="1300" b="1">
                  <a:solidFill>
                    <a:srgbClr val="9084F9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“Organizza Pizzata”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199465" y="5581389"/>
            <a:ext cx="2585005" cy="432143"/>
            <a:chOff x="0" y="0"/>
            <a:chExt cx="812800" cy="13587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135878"/>
            </a:xfrm>
            <a:custGeom>
              <a:avLst/>
              <a:gdLst/>
              <a:ahLst/>
              <a:cxnLst/>
              <a:rect l="l" t="t" r="r" b="b"/>
              <a:pathLst>
                <a:path w="812800" h="135878">
                  <a:moveTo>
                    <a:pt x="67939" y="0"/>
                  </a:moveTo>
                  <a:lnTo>
                    <a:pt x="744861" y="0"/>
                  </a:lnTo>
                  <a:cubicBezTo>
                    <a:pt x="782383" y="0"/>
                    <a:pt x="812800" y="30417"/>
                    <a:pt x="812800" y="67939"/>
                  </a:cubicBezTo>
                  <a:lnTo>
                    <a:pt x="812800" y="67939"/>
                  </a:lnTo>
                  <a:cubicBezTo>
                    <a:pt x="812800" y="105461"/>
                    <a:pt x="782383" y="135878"/>
                    <a:pt x="744861" y="135878"/>
                  </a:cubicBezTo>
                  <a:lnTo>
                    <a:pt x="67939" y="135878"/>
                  </a:lnTo>
                  <a:cubicBezTo>
                    <a:pt x="30417" y="135878"/>
                    <a:pt x="0" y="105461"/>
                    <a:pt x="0" y="67939"/>
                  </a:cubicBezTo>
                  <a:lnTo>
                    <a:pt x="0" y="67939"/>
                  </a:lnTo>
                  <a:cubicBezTo>
                    <a:pt x="0" y="30417"/>
                    <a:pt x="30417" y="0"/>
                    <a:pt x="6793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rnd">
              <a:solidFill>
                <a:srgbClr val="9084F9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812800" cy="1549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r>
                <a:rPr lang="en-US" sz="1300" b="1">
                  <a:solidFill>
                    <a:srgbClr val="9084F9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“Bacheca Eventi”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199465" y="6127832"/>
            <a:ext cx="2585005" cy="432143"/>
            <a:chOff x="0" y="0"/>
            <a:chExt cx="812800" cy="13587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135878"/>
            </a:xfrm>
            <a:custGeom>
              <a:avLst/>
              <a:gdLst/>
              <a:ahLst/>
              <a:cxnLst/>
              <a:rect l="l" t="t" r="r" b="b"/>
              <a:pathLst>
                <a:path w="812800" h="135878">
                  <a:moveTo>
                    <a:pt x="67939" y="0"/>
                  </a:moveTo>
                  <a:lnTo>
                    <a:pt x="744861" y="0"/>
                  </a:lnTo>
                  <a:cubicBezTo>
                    <a:pt x="782383" y="0"/>
                    <a:pt x="812800" y="30417"/>
                    <a:pt x="812800" y="67939"/>
                  </a:cubicBezTo>
                  <a:lnTo>
                    <a:pt x="812800" y="67939"/>
                  </a:lnTo>
                  <a:cubicBezTo>
                    <a:pt x="812800" y="105461"/>
                    <a:pt x="782383" y="135878"/>
                    <a:pt x="744861" y="135878"/>
                  </a:cubicBezTo>
                  <a:lnTo>
                    <a:pt x="67939" y="135878"/>
                  </a:lnTo>
                  <a:cubicBezTo>
                    <a:pt x="30417" y="135878"/>
                    <a:pt x="0" y="105461"/>
                    <a:pt x="0" y="67939"/>
                  </a:cubicBezTo>
                  <a:lnTo>
                    <a:pt x="0" y="67939"/>
                  </a:lnTo>
                  <a:cubicBezTo>
                    <a:pt x="0" y="30417"/>
                    <a:pt x="30417" y="0"/>
                    <a:pt x="6793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rnd">
              <a:solidFill>
                <a:srgbClr val="9084F9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812800" cy="1549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r>
                <a:rPr lang="en-US" sz="1300" b="1">
                  <a:solidFill>
                    <a:srgbClr val="9084F9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“I Miei Eventi”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199465" y="6674275"/>
            <a:ext cx="2585005" cy="432143"/>
            <a:chOff x="0" y="0"/>
            <a:chExt cx="812800" cy="13587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135878"/>
            </a:xfrm>
            <a:custGeom>
              <a:avLst/>
              <a:gdLst/>
              <a:ahLst/>
              <a:cxnLst/>
              <a:rect l="l" t="t" r="r" b="b"/>
              <a:pathLst>
                <a:path w="812800" h="135878">
                  <a:moveTo>
                    <a:pt x="67939" y="0"/>
                  </a:moveTo>
                  <a:lnTo>
                    <a:pt x="744861" y="0"/>
                  </a:lnTo>
                  <a:cubicBezTo>
                    <a:pt x="782383" y="0"/>
                    <a:pt x="812800" y="30417"/>
                    <a:pt x="812800" y="67939"/>
                  </a:cubicBezTo>
                  <a:lnTo>
                    <a:pt x="812800" y="67939"/>
                  </a:lnTo>
                  <a:cubicBezTo>
                    <a:pt x="812800" y="105461"/>
                    <a:pt x="782383" y="135878"/>
                    <a:pt x="744861" y="135878"/>
                  </a:cubicBezTo>
                  <a:lnTo>
                    <a:pt x="67939" y="135878"/>
                  </a:lnTo>
                  <a:cubicBezTo>
                    <a:pt x="30417" y="135878"/>
                    <a:pt x="0" y="105461"/>
                    <a:pt x="0" y="67939"/>
                  </a:cubicBezTo>
                  <a:lnTo>
                    <a:pt x="0" y="67939"/>
                  </a:lnTo>
                  <a:cubicBezTo>
                    <a:pt x="0" y="30417"/>
                    <a:pt x="30417" y="0"/>
                    <a:pt x="6793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rnd">
              <a:solidFill>
                <a:srgbClr val="9084F9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812800" cy="1549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r>
                <a:rPr lang="en-US" sz="1300" b="1">
                  <a:solidFill>
                    <a:srgbClr val="9084F9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“Stato Eventi”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608575" y="4248428"/>
            <a:ext cx="3406882" cy="672218"/>
            <a:chOff x="0" y="0"/>
            <a:chExt cx="1011174" cy="19954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11174" cy="199544"/>
            </a:xfrm>
            <a:custGeom>
              <a:avLst/>
              <a:gdLst/>
              <a:ahLst/>
              <a:cxnLst/>
              <a:rect l="l" t="t" r="r" b="b"/>
              <a:pathLst>
                <a:path w="1011174" h="199544">
                  <a:moveTo>
                    <a:pt x="1011174" y="31814"/>
                  </a:moveTo>
                  <a:lnTo>
                    <a:pt x="1011174" y="167730"/>
                  </a:lnTo>
                  <a:cubicBezTo>
                    <a:pt x="1011174" y="185301"/>
                    <a:pt x="996930" y="199544"/>
                    <a:pt x="979360" y="199544"/>
                  </a:cubicBezTo>
                  <a:lnTo>
                    <a:pt x="31814" y="199544"/>
                  </a:lnTo>
                  <a:cubicBezTo>
                    <a:pt x="14244" y="199544"/>
                    <a:pt x="0" y="185301"/>
                    <a:pt x="0" y="167730"/>
                  </a:cubicBezTo>
                  <a:lnTo>
                    <a:pt x="0" y="31814"/>
                  </a:lnTo>
                  <a:cubicBezTo>
                    <a:pt x="0" y="23376"/>
                    <a:pt x="3352" y="15284"/>
                    <a:pt x="9318" y="9318"/>
                  </a:cubicBezTo>
                  <a:cubicBezTo>
                    <a:pt x="15284" y="3352"/>
                    <a:pt x="23376" y="0"/>
                    <a:pt x="31814" y="0"/>
                  </a:cubicBezTo>
                  <a:lnTo>
                    <a:pt x="979360" y="0"/>
                  </a:lnTo>
                  <a:cubicBezTo>
                    <a:pt x="987798" y="0"/>
                    <a:pt x="995890" y="3352"/>
                    <a:pt x="1001856" y="9318"/>
                  </a:cubicBezTo>
                  <a:cubicBezTo>
                    <a:pt x="1007822" y="15284"/>
                    <a:pt x="1011174" y="23376"/>
                    <a:pt x="1011174" y="31814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64DBB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57150"/>
              <a:ext cx="1011174" cy="2566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r>
                <a:rPr lang="en-US" sz="2299" b="1">
                  <a:solidFill>
                    <a:srgbClr val="564DBB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ContentNav.tsx</a:t>
              </a:r>
            </a:p>
          </p:txBody>
        </p:sp>
      </p:grpSp>
      <p:sp>
        <p:nvSpPr>
          <p:cNvPr id="37" name="AutoShape 37"/>
          <p:cNvSpPr/>
          <p:nvPr/>
        </p:nvSpPr>
        <p:spPr>
          <a:xfrm>
            <a:off x="1877661" y="4920646"/>
            <a:ext cx="0" cy="1969701"/>
          </a:xfrm>
          <a:prstGeom prst="line">
            <a:avLst/>
          </a:prstGeom>
          <a:ln w="38100" cap="flat">
            <a:solidFill>
              <a:srgbClr val="9084F9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38" name="AutoShape 38"/>
          <p:cNvSpPr/>
          <p:nvPr/>
        </p:nvSpPr>
        <p:spPr>
          <a:xfrm>
            <a:off x="1877661" y="6890346"/>
            <a:ext cx="321804" cy="0"/>
          </a:xfrm>
          <a:prstGeom prst="line">
            <a:avLst/>
          </a:prstGeom>
          <a:ln w="38100" cap="flat">
            <a:solidFill>
              <a:srgbClr val="9084F9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sp>
        <p:nvSpPr>
          <p:cNvPr id="39" name="AutoShape 39"/>
          <p:cNvSpPr/>
          <p:nvPr/>
        </p:nvSpPr>
        <p:spPr>
          <a:xfrm>
            <a:off x="1877661" y="6343903"/>
            <a:ext cx="321804" cy="0"/>
          </a:xfrm>
          <a:prstGeom prst="line">
            <a:avLst/>
          </a:prstGeom>
          <a:ln w="38100" cap="flat">
            <a:solidFill>
              <a:srgbClr val="9084F9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sp>
        <p:nvSpPr>
          <p:cNvPr id="40" name="AutoShape 40"/>
          <p:cNvSpPr/>
          <p:nvPr/>
        </p:nvSpPr>
        <p:spPr>
          <a:xfrm>
            <a:off x="1877661" y="5816510"/>
            <a:ext cx="321804" cy="0"/>
          </a:xfrm>
          <a:prstGeom prst="line">
            <a:avLst/>
          </a:prstGeom>
          <a:ln w="38100" cap="flat">
            <a:solidFill>
              <a:srgbClr val="9084F9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sp>
        <p:nvSpPr>
          <p:cNvPr id="41" name="AutoShape 41"/>
          <p:cNvSpPr/>
          <p:nvPr/>
        </p:nvSpPr>
        <p:spPr>
          <a:xfrm>
            <a:off x="1877661" y="5270067"/>
            <a:ext cx="321804" cy="0"/>
          </a:xfrm>
          <a:prstGeom prst="line">
            <a:avLst/>
          </a:prstGeom>
          <a:ln w="38100" cap="flat">
            <a:solidFill>
              <a:srgbClr val="9084F9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sp>
        <p:nvSpPr>
          <p:cNvPr id="42" name="AutoShape 42"/>
          <p:cNvSpPr/>
          <p:nvPr/>
        </p:nvSpPr>
        <p:spPr>
          <a:xfrm>
            <a:off x="1248671" y="3042749"/>
            <a:ext cx="359904" cy="0"/>
          </a:xfrm>
          <a:prstGeom prst="line">
            <a:avLst/>
          </a:prstGeom>
          <a:ln w="38100" cap="flat">
            <a:solidFill>
              <a:srgbClr val="564DBB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sp>
        <p:nvSpPr>
          <p:cNvPr id="43" name="AutoShape 43"/>
          <p:cNvSpPr/>
          <p:nvPr/>
        </p:nvSpPr>
        <p:spPr>
          <a:xfrm>
            <a:off x="1248671" y="4584537"/>
            <a:ext cx="359904" cy="0"/>
          </a:xfrm>
          <a:prstGeom prst="line">
            <a:avLst/>
          </a:prstGeom>
          <a:ln w="38100" cap="flat">
            <a:solidFill>
              <a:srgbClr val="564DBB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sp>
        <p:nvSpPr>
          <p:cNvPr id="44" name="AutoShape 44"/>
          <p:cNvSpPr/>
          <p:nvPr/>
        </p:nvSpPr>
        <p:spPr>
          <a:xfrm flipH="1" flipV="1">
            <a:off x="1248671" y="2008043"/>
            <a:ext cx="0" cy="2576494"/>
          </a:xfrm>
          <a:prstGeom prst="line">
            <a:avLst/>
          </a:prstGeom>
          <a:ln w="38100" cap="flat">
            <a:solidFill>
              <a:srgbClr val="564DBB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45" name="AutoShape 45"/>
          <p:cNvSpPr/>
          <p:nvPr/>
        </p:nvSpPr>
        <p:spPr>
          <a:xfrm flipH="1">
            <a:off x="5719610" y="2008043"/>
            <a:ext cx="2957264" cy="0"/>
          </a:xfrm>
          <a:prstGeom prst="line">
            <a:avLst/>
          </a:prstGeom>
          <a:ln w="38100" cap="flat">
            <a:solidFill>
              <a:srgbClr val="564DBB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46" name="AutoShape 46"/>
          <p:cNvSpPr/>
          <p:nvPr/>
        </p:nvSpPr>
        <p:spPr>
          <a:xfrm flipV="1">
            <a:off x="8676874" y="2008043"/>
            <a:ext cx="0" cy="731731"/>
          </a:xfrm>
          <a:prstGeom prst="line">
            <a:avLst/>
          </a:prstGeom>
          <a:ln w="38100" cap="flat">
            <a:solidFill>
              <a:srgbClr val="564DBB"/>
            </a:solidFill>
            <a:prstDash val="sysDot"/>
            <a:headEnd type="arrow" w="med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grpSp>
        <p:nvGrpSpPr>
          <p:cNvPr id="47" name="Group 47"/>
          <p:cNvGrpSpPr/>
          <p:nvPr/>
        </p:nvGrpSpPr>
        <p:grpSpPr>
          <a:xfrm>
            <a:off x="5644107" y="2739774"/>
            <a:ext cx="6065535" cy="5022487"/>
            <a:chOff x="25400" y="0"/>
            <a:chExt cx="8087380" cy="6696649"/>
          </a:xfrm>
        </p:grpSpPr>
        <p:grpSp>
          <p:nvGrpSpPr>
            <p:cNvPr id="48" name="Group 48"/>
            <p:cNvGrpSpPr/>
            <p:nvPr/>
          </p:nvGrpSpPr>
          <p:grpSpPr>
            <a:xfrm>
              <a:off x="2228450" y="0"/>
              <a:ext cx="3681023" cy="896290"/>
              <a:chOff x="0" y="0"/>
              <a:chExt cx="819405" cy="199544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819405" cy="199544"/>
              </a:xfrm>
              <a:custGeom>
                <a:avLst/>
                <a:gdLst/>
                <a:ahLst/>
                <a:cxnLst/>
                <a:rect l="l" t="t" r="r" b="b"/>
                <a:pathLst>
                  <a:path w="819405" h="199544">
                    <a:moveTo>
                      <a:pt x="819405" y="39260"/>
                    </a:moveTo>
                    <a:lnTo>
                      <a:pt x="819405" y="160285"/>
                    </a:lnTo>
                    <a:cubicBezTo>
                      <a:pt x="819405" y="181967"/>
                      <a:pt x="801828" y="199544"/>
                      <a:pt x="780145" y="199544"/>
                    </a:cubicBezTo>
                    <a:lnTo>
                      <a:pt x="39260" y="199544"/>
                    </a:lnTo>
                    <a:cubicBezTo>
                      <a:pt x="17577" y="199544"/>
                      <a:pt x="0" y="181967"/>
                      <a:pt x="0" y="160285"/>
                    </a:cubicBezTo>
                    <a:lnTo>
                      <a:pt x="0" y="39260"/>
                    </a:lnTo>
                    <a:cubicBezTo>
                      <a:pt x="0" y="17577"/>
                      <a:pt x="17577" y="0"/>
                      <a:pt x="39260" y="0"/>
                    </a:cubicBezTo>
                    <a:lnTo>
                      <a:pt x="780145" y="0"/>
                    </a:lnTo>
                    <a:cubicBezTo>
                      <a:pt x="801828" y="0"/>
                      <a:pt x="819405" y="17577"/>
                      <a:pt x="819405" y="3926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sq">
                <a:solidFill>
                  <a:srgbClr val="564DBB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0" y="-57150"/>
                <a:ext cx="819405" cy="2566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9"/>
                  </a:lnSpc>
                </a:pPr>
                <a:r>
                  <a:rPr lang="en-US" sz="2299" b="1">
                    <a:solidFill>
                      <a:srgbClr val="564DBB"/>
                    </a:solidFill>
                    <a:latin typeface="TT Hoves Bold"/>
                    <a:ea typeface="TT Hoves Bold"/>
                    <a:cs typeface="TT Hoves Bold"/>
                    <a:sym typeface="TT Hoves Bold"/>
                  </a:rPr>
                  <a:t>Main Content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4185977" y="1047727"/>
              <a:ext cx="3446673" cy="576191"/>
              <a:chOff x="0" y="0"/>
              <a:chExt cx="812800" cy="135878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812800" cy="13587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35878">
                    <a:moveTo>
                      <a:pt x="67939" y="0"/>
                    </a:moveTo>
                    <a:lnTo>
                      <a:pt x="744861" y="0"/>
                    </a:lnTo>
                    <a:cubicBezTo>
                      <a:pt x="782383" y="0"/>
                      <a:pt x="812800" y="30417"/>
                      <a:pt x="812800" y="67939"/>
                    </a:cubicBezTo>
                    <a:lnTo>
                      <a:pt x="812800" y="67939"/>
                    </a:lnTo>
                    <a:cubicBezTo>
                      <a:pt x="812800" y="105461"/>
                      <a:pt x="782383" y="135878"/>
                      <a:pt x="744861" y="135878"/>
                    </a:cubicBezTo>
                    <a:lnTo>
                      <a:pt x="67939" y="135878"/>
                    </a:lnTo>
                    <a:cubicBezTo>
                      <a:pt x="30417" y="135878"/>
                      <a:pt x="0" y="105461"/>
                      <a:pt x="0" y="67939"/>
                    </a:cubicBezTo>
                    <a:lnTo>
                      <a:pt x="0" y="67939"/>
                    </a:lnTo>
                    <a:cubicBezTo>
                      <a:pt x="0" y="30417"/>
                      <a:pt x="30417" y="0"/>
                      <a:pt x="6793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rnd">
                <a:solidFill>
                  <a:srgbClr val="9084F9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0" y="-19050"/>
                <a:ext cx="812800" cy="1549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20"/>
                  </a:lnSpc>
                </a:pPr>
                <a:r>
                  <a:rPr lang="en-US" sz="1300" b="1">
                    <a:solidFill>
                      <a:srgbClr val="9084F9"/>
                    </a:solidFill>
                    <a:latin typeface="TT Hoves Bold"/>
                    <a:ea typeface="TT Hoves Bold"/>
                    <a:cs typeface="TT Hoves Bold"/>
                    <a:sym typeface="TT Hoves Bold"/>
                  </a:rPr>
                  <a:t>EventBoard.tsx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4185977" y="3234129"/>
              <a:ext cx="3446673" cy="576191"/>
              <a:chOff x="0" y="0"/>
              <a:chExt cx="812800" cy="135878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812800" cy="13587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35878">
                    <a:moveTo>
                      <a:pt x="67939" y="0"/>
                    </a:moveTo>
                    <a:lnTo>
                      <a:pt x="744861" y="0"/>
                    </a:lnTo>
                    <a:cubicBezTo>
                      <a:pt x="782383" y="0"/>
                      <a:pt x="812800" y="30417"/>
                      <a:pt x="812800" y="67939"/>
                    </a:cubicBezTo>
                    <a:lnTo>
                      <a:pt x="812800" y="67939"/>
                    </a:lnTo>
                    <a:cubicBezTo>
                      <a:pt x="812800" y="105461"/>
                      <a:pt x="782383" y="135878"/>
                      <a:pt x="744861" y="135878"/>
                    </a:cubicBezTo>
                    <a:lnTo>
                      <a:pt x="67939" y="135878"/>
                    </a:lnTo>
                    <a:cubicBezTo>
                      <a:pt x="30417" y="135878"/>
                      <a:pt x="0" y="105461"/>
                      <a:pt x="0" y="67939"/>
                    </a:cubicBezTo>
                    <a:lnTo>
                      <a:pt x="0" y="67939"/>
                    </a:lnTo>
                    <a:cubicBezTo>
                      <a:pt x="0" y="30417"/>
                      <a:pt x="30417" y="0"/>
                      <a:pt x="6793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rnd">
                <a:solidFill>
                  <a:srgbClr val="9084F9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it-IT" dirty="0"/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0" y="-19050"/>
                <a:ext cx="812800" cy="1549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20"/>
                  </a:lnSpc>
                </a:pPr>
                <a:r>
                  <a:rPr lang="en-US" sz="1300" b="1" dirty="0" err="1">
                    <a:solidFill>
                      <a:srgbClr val="9084F9"/>
                    </a:solidFill>
                    <a:latin typeface="TT Hoves Bold"/>
                    <a:ea typeface="TT Hoves Bold"/>
                    <a:cs typeface="TT Hoves Bold"/>
                    <a:sym typeface="TT Hoves Bold"/>
                  </a:rPr>
                  <a:t>MyJoinedEvents.tsx</a:t>
                </a:r>
                <a:endParaRPr lang="en-US" sz="1300" b="1" dirty="0">
                  <a:solidFill>
                    <a:srgbClr val="9084F9"/>
                  </a:solidFill>
                  <a:latin typeface="TT Hoves Bold"/>
                  <a:ea typeface="TT Hoves Bold"/>
                  <a:cs typeface="TT Hoves Bold"/>
                  <a:sym typeface="TT Hoves Bold"/>
                </a:endParaRP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4752290" y="1776948"/>
              <a:ext cx="2101111" cy="576191"/>
              <a:chOff x="0" y="0"/>
              <a:chExt cx="495487" cy="135878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495487" cy="135878"/>
              </a:xfrm>
              <a:custGeom>
                <a:avLst/>
                <a:gdLst/>
                <a:ahLst/>
                <a:cxnLst/>
                <a:rect l="l" t="t" r="r" b="b"/>
                <a:pathLst>
                  <a:path w="495487" h="135878">
                    <a:moveTo>
                      <a:pt x="0" y="0"/>
                    </a:moveTo>
                    <a:lnTo>
                      <a:pt x="495487" y="0"/>
                    </a:lnTo>
                    <a:lnTo>
                      <a:pt x="495487" y="135878"/>
                    </a:lnTo>
                    <a:lnTo>
                      <a:pt x="0" y="13587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sq">
                <a:solidFill>
                  <a:srgbClr val="E2A9F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0" y="-19050"/>
                <a:ext cx="495487" cy="1549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20"/>
                  </a:lnSpc>
                </a:pPr>
                <a:r>
                  <a:rPr lang="en-US" sz="1300" b="1">
                    <a:solidFill>
                      <a:srgbClr val="E2A9F1"/>
                    </a:solidFill>
                    <a:latin typeface="TT Hoves Bold"/>
                    <a:ea typeface="TT Hoves Bold"/>
                    <a:cs typeface="TT Hoves Bold"/>
                    <a:sym typeface="TT Hoves Bold"/>
                  </a:rPr>
                  <a:t>EventFilters.tsx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4752290" y="2505539"/>
              <a:ext cx="2101111" cy="576191"/>
              <a:chOff x="0" y="0"/>
              <a:chExt cx="495487" cy="135878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495487" cy="135878"/>
              </a:xfrm>
              <a:custGeom>
                <a:avLst/>
                <a:gdLst/>
                <a:ahLst/>
                <a:cxnLst/>
                <a:rect l="l" t="t" r="r" b="b"/>
                <a:pathLst>
                  <a:path w="495487" h="135878">
                    <a:moveTo>
                      <a:pt x="0" y="0"/>
                    </a:moveTo>
                    <a:lnTo>
                      <a:pt x="495487" y="0"/>
                    </a:lnTo>
                    <a:lnTo>
                      <a:pt x="495487" y="135878"/>
                    </a:lnTo>
                    <a:lnTo>
                      <a:pt x="0" y="13587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sq">
                <a:solidFill>
                  <a:srgbClr val="E2A9F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0" y="-19050"/>
                <a:ext cx="495487" cy="1549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20"/>
                  </a:lnSpc>
                </a:pPr>
                <a:r>
                  <a:rPr lang="en-US" sz="1300" b="1">
                    <a:solidFill>
                      <a:srgbClr val="E2A9F1"/>
                    </a:solidFill>
                    <a:latin typeface="TT Hoves Bold"/>
                    <a:ea typeface="TT Hoves Bold"/>
                    <a:cs typeface="TT Hoves Bold"/>
                    <a:sym typeface="TT Hoves Bold"/>
                  </a:rPr>
                  <a:t>EventCard.tsx</a:t>
                </a:r>
              </a:p>
            </p:txBody>
          </p:sp>
        </p:grpSp>
        <p:sp>
          <p:nvSpPr>
            <p:cNvPr id="68" name="TextBox 68"/>
            <p:cNvSpPr txBox="1"/>
            <p:nvPr/>
          </p:nvSpPr>
          <p:spPr>
            <a:xfrm>
              <a:off x="4752291" y="4611160"/>
              <a:ext cx="2101111" cy="6569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 lang="en-US" sz="1300" b="1" dirty="0">
                <a:solidFill>
                  <a:srgbClr val="E2A9F1"/>
                </a:solidFill>
                <a:latin typeface="TT Hoves Bold"/>
                <a:ea typeface="TT Hoves Bold"/>
                <a:cs typeface="TT Hoves Bold"/>
                <a:sym typeface="TT Hoves Bold"/>
              </a:endParaRPr>
            </a:p>
          </p:txBody>
        </p:sp>
        <p:sp>
          <p:nvSpPr>
            <p:cNvPr id="69" name="AutoShape 69"/>
            <p:cNvSpPr/>
            <p:nvPr/>
          </p:nvSpPr>
          <p:spPr>
            <a:xfrm>
              <a:off x="6827651" y="2065043"/>
              <a:ext cx="429072" cy="0"/>
            </a:xfrm>
            <a:prstGeom prst="line">
              <a:avLst/>
            </a:prstGeom>
            <a:ln w="50800" cap="flat">
              <a:solidFill>
                <a:srgbClr val="E2A9F1"/>
              </a:solidFill>
              <a:prstDash val="sysDot"/>
              <a:headEnd type="arrow" w="med" len="sm"/>
              <a:tailEnd type="none" w="sm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0" name="AutoShape 70"/>
            <p:cNvSpPr/>
            <p:nvPr/>
          </p:nvSpPr>
          <p:spPr>
            <a:xfrm>
              <a:off x="931680" y="2065043"/>
              <a:ext cx="556346" cy="0"/>
            </a:xfrm>
            <a:prstGeom prst="line">
              <a:avLst/>
            </a:prstGeom>
            <a:ln w="50800" cap="flat">
              <a:solidFill>
                <a:srgbClr val="E2A9F1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1" name="AutoShape 71"/>
            <p:cNvSpPr/>
            <p:nvPr/>
          </p:nvSpPr>
          <p:spPr>
            <a:xfrm flipV="1">
              <a:off x="931680" y="3522855"/>
              <a:ext cx="556346" cy="0"/>
            </a:xfrm>
            <a:prstGeom prst="line">
              <a:avLst/>
            </a:prstGeom>
            <a:ln w="50800" cap="flat">
              <a:solidFill>
                <a:srgbClr val="E2A9F1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2" name="AutoShape 72"/>
            <p:cNvSpPr/>
            <p:nvPr/>
          </p:nvSpPr>
          <p:spPr>
            <a:xfrm>
              <a:off x="967704" y="4975976"/>
              <a:ext cx="556346" cy="30330"/>
            </a:xfrm>
            <a:prstGeom prst="line">
              <a:avLst/>
            </a:prstGeom>
            <a:ln w="50800" cap="flat">
              <a:solidFill>
                <a:srgbClr val="E2A9F1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3" name="AutoShape 73"/>
            <p:cNvSpPr/>
            <p:nvPr/>
          </p:nvSpPr>
          <p:spPr>
            <a:xfrm>
              <a:off x="967704" y="5704567"/>
              <a:ext cx="556346" cy="0"/>
            </a:xfrm>
            <a:prstGeom prst="line">
              <a:avLst/>
            </a:prstGeom>
            <a:ln w="50800" cap="flat">
              <a:solidFill>
                <a:srgbClr val="E2A9F1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4" name="AutoShape 74"/>
            <p:cNvSpPr/>
            <p:nvPr/>
          </p:nvSpPr>
          <p:spPr>
            <a:xfrm>
              <a:off x="967704" y="6408553"/>
              <a:ext cx="556346" cy="0"/>
            </a:xfrm>
            <a:prstGeom prst="line">
              <a:avLst/>
            </a:prstGeom>
            <a:ln w="50800" cap="flat">
              <a:solidFill>
                <a:srgbClr val="E2A9F1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6" name="AutoShape 76"/>
            <p:cNvSpPr/>
            <p:nvPr/>
          </p:nvSpPr>
          <p:spPr>
            <a:xfrm>
              <a:off x="6853400" y="2793634"/>
              <a:ext cx="403322" cy="0"/>
            </a:xfrm>
            <a:prstGeom prst="line">
              <a:avLst/>
            </a:prstGeom>
            <a:ln w="50800" cap="flat">
              <a:solidFill>
                <a:srgbClr val="E2A9F1"/>
              </a:solidFill>
              <a:prstDash val="sysDot"/>
              <a:headEnd type="arrow" w="med" len="sm"/>
              <a:tailEnd type="none" w="sm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8" name="AutoShape 78"/>
            <p:cNvSpPr/>
            <p:nvPr/>
          </p:nvSpPr>
          <p:spPr>
            <a:xfrm>
              <a:off x="7256723" y="1623917"/>
              <a:ext cx="0" cy="1169717"/>
            </a:xfrm>
            <a:prstGeom prst="line">
              <a:avLst/>
            </a:prstGeom>
            <a:ln w="50800" cap="flat">
              <a:solidFill>
                <a:srgbClr val="E2A9F1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9" name="AutoShape 79"/>
            <p:cNvSpPr/>
            <p:nvPr/>
          </p:nvSpPr>
          <p:spPr>
            <a:xfrm flipH="1">
              <a:off x="931680" y="1623917"/>
              <a:ext cx="0" cy="471456"/>
            </a:xfrm>
            <a:prstGeom prst="line">
              <a:avLst/>
            </a:prstGeom>
            <a:ln w="50800" cap="flat">
              <a:solidFill>
                <a:srgbClr val="E2A9F1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80" name="AutoShape 80"/>
            <p:cNvSpPr/>
            <p:nvPr/>
          </p:nvSpPr>
          <p:spPr>
            <a:xfrm flipH="1">
              <a:off x="931680" y="3081729"/>
              <a:ext cx="0" cy="471456"/>
            </a:xfrm>
            <a:prstGeom prst="line">
              <a:avLst/>
            </a:prstGeom>
            <a:ln w="50800" cap="flat">
              <a:solidFill>
                <a:srgbClr val="E2A9F1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81" name="AutoShape 81"/>
            <p:cNvSpPr/>
            <p:nvPr/>
          </p:nvSpPr>
          <p:spPr>
            <a:xfrm flipH="1">
              <a:off x="967704" y="4534851"/>
              <a:ext cx="0" cy="1873702"/>
            </a:xfrm>
            <a:prstGeom prst="line">
              <a:avLst/>
            </a:prstGeom>
            <a:ln w="50800" cap="flat">
              <a:solidFill>
                <a:srgbClr val="E2A9F1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it-IT"/>
            </a:p>
          </p:txBody>
        </p:sp>
        <p:grpSp>
          <p:nvGrpSpPr>
            <p:cNvPr id="83" name="Group 83"/>
            <p:cNvGrpSpPr/>
            <p:nvPr/>
          </p:nvGrpSpPr>
          <p:grpSpPr>
            <a:xfrm>
              <a:off x="4185977" y="5417974"/>
              <a:ext cx="3446673" cy="576191"/>
              <a:chOff x="0" y="0"/>
              <a:chExt cx="812800" cy="135878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0" y="0"/>
                <a:ext cx="812800" cy="13587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35878">
                    <a:moveTo>
                      <a:pt x="67939" y="0"/>
                    </a:moveTo>
                    <a:lnTo>
                      <a:pt x="744861" y="0"/>
                    </a:lnTo>
                    <a:cubicBezTo>
                      <a:pt x="782383" y="0"/>
                      <a:pt x="812800" y="30417"/>
                      <a:pt x="812800" y="67939"/>
                    </a:cubicBezTo>
                    <a:lnTo>
                      <a:pt x="812800" y="67939"/>
                    </a:lnTo>
                    <a:cubicBezTo>
                      <a:pt x="812800" y="105461"/>
                      <a:pt x="782383" y="135878"/>
                      <a:pt x="744861" y="135878"/>
                    </a:cubicBezTo>
                    <a:lnTo>
                      <a:pt x="67939" y="135878"/>
                    </a:lnTo>
                    <a:cubicBezTo>
                      <a:pt x="30417" y="135878"/>
                      <a:pt x="0" y="105461"/>
                      <a:pt x="0" y="67939"/>
                    </a:cubicBezTo>
                    <a:lnTo>
                      <a:pt x="0" y="67939"/>
                    </a:lnTo>
                    <a:cubicBezTo>
                      <a:pt x="0" y="30417"/>
                      <a:pt x="30417" y="0"/>
                      <a:pt x="6793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rnd">
                <a:solidFill>
                  <a:srgbClr val="9084F9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0" y="-19050"/>
                <a:ext cx="812800" cy="1549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20"/>
                  </a:lnSpc>
                </a:pPr>
                <a:r>
                  <a:rPr lang="en-US" sz="1300" b="1">
                    <a:solidFill>
                      <a:srgbClr val="9084F9"/>
                    </a:solidFill>
                    <a:latin typeface="TT Hoves Bold"/>
                    <a:ea typeface="TT Hoves Bold"/>
                    <a:cs typeface="TT Hoves Bold"/>
                    <a:sym typeface="TT Hoves Bold"/>
                  </a:rPr>
                  <a:t>OrganizeEvent.tsx</a:t>
                </a:r>
              </a:p>
            </p:txBody>
          </p:sp>
        </p:grpSp>
        <p:grpSp>
          <p:nvGrpSpPr>
            <p:cNvPr id="86" name="Group 86"/>
            <p:cNvGrpSpPr/>
            <p:nvPr/>
          </p:nvGrpSpPr>
          <p:grpSpPr>
            <a:xfrm>
              <a:off x="505272" y="1047727"/>
              <a:ext cx="3446673" cy="576191"/>
              <a:chOff x="0" y="0"/>
              <a:chExt cx="812800" cy="135878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0" y="0"/>
                <a:ext cx="812800" cy="13587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35878">
                    <a:moveTo>
                      <a:pt x="67939" y="0"/>
                    </a:moveTo>
                    <a:lnTo>
                      <a:pt x="744861" y="0"/>
                    </a:lnTo>
                    <a:cubicBezTo>
                      <a:pt x="782383" y="0"/>
                      <a:pt x="812800" y="30417"/>
                      <a:pt x="812800" y="67939"/>
                    </a:cubicBezTo>
                    <a:lnTo>
                      <a:pt x="812800" y="67939"/>
                    </a:lnTo>
                    <a:cubicBezTo>
                      <a:pt x="812800" y="105461"/>
                      <a:pt x="782383" y="135878"/>
                      <a:pt x="744861" y="135878"/>
                    </a:cubicBezTo>
                    <a:lnTo>
                      <a:pt x="67939" y="135878"/>
                    </a:lnTo>
                    <a:cubicBezTo>
                      <a:pt x="30417" y="135878"/>
                      <a:pt x="0" y="105461"/>
                      <a:pt x="0" y="67939"/>
                    </a:cubicBezTo>
                    <a:lnTo>
                      <a:pt x="0" y="67939"/>
                    </a:lnTo>
                    <a:cubicBezTo>
                      <a:pt x="0" y="30417"/>
                      <a:pt x="30417" y="0"/>
                      <a:pt x="6793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rnd">
                <a:solidFill>
                  <a:srgbClr val="9084F9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0" y="-19050"/>
                <a:ext cx="812800" cy="1549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20"/>
                  </a:lnSpc>
                </a:pPr>
                <a:r>
                  <a:rPr lang="en-US" sz="1300" b="1">
                    <a:solidFill>
                      <a:srgbClr val="9084F9"/>
                    </a:solidFill>
                    <a:latin typeface="TT Hoves Bold"/>
                    <a:ea typeface="TT Hoves Bold"/>
                    <a:cs typeface="TT Hoves Bold"/>
                    <a:sym typeface="TT Hoves Bold"/>
                  </a:rPr>
                  <a:t>Restaurant Dashboard</a:t>
                </a:r>
              </a:p>
            </p:txBody>
          </p:sp>
        </p:grpSp>
        <p:grpSp>
          <p:nvGrpSpPr>
            <p:cNvPr id="89" name="Group 89"/>
            <p:cNvGrpSpPr/>
            <p:nvPr/>
          </p:nvGrpSpPr>
          <p:grpSpPr>
            <a:xfrm>
              <a:off x="505272" y="2505539"/>
              <a:ext cx="3446673" cy="576191"/>
              <a:chOff x="0" y="0"/>
              <a:chExt cx="812800" cy="135878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0" y="0"/>
                <a:ext cx="812800" cy="13587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35878">
                    <a:moveTo>
                      <a:pt x="67939" y="0"/>
                    </a:moveTo>
                    <a:lnTo>
                      <a:pt x="744861" y="0"/>
                    </a:lnTo>
                    <a:cubicBezTo>
                      <a:pt x="782383" y="0"/>
                      <a:pt x="812800" y="30417"/>
                      <a:pt x="812800" y="67939"/>
                    </a:cubicBezTo>
                    <a:lnTo>
                      <a:pt x="812800" y="67939"/>
                    </a:lnTo>
                    <a:cubicBezTo>
                      <a:pt x="812800" y="105461"/>
                      <a:pt x="782383" y="135878"/>
                      <a:pt x="744861" y="135878"/>
                    </a:cubicBezTo>
                    <a:lnTo>
                      <a:pt x="67939" y="135878"/>
                    </a:lnTo>
                    <a:cubicBezTo>
                      <a:pt x="30417" y="135878"/>
                      <a:pt x="0" y="105461"/>
                      <a:pt x="0" y="67939"/>
                    </a:cubicBezTo>
                    <a:lnTo>
                      <a:pt x="0" y="67939"/>
                    </a:lnTo>
                    <a:cubicBezTo>
                      <a:pt x="0" y="30417"/>
                      <a:pt x="30417" y="0"/>
                      <a:pt x="6793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rnd">
                <a:solidFill>
                  <a:srgbClr val="9084F9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0" y="-19050"/>
                <a:ext cx="812800" cy="1549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20"/>
                  </a:lnSpc>
                </a:pPr>
                <a:r>
                  <a:rPr lang="en-US" sz="1300" b="1">
                    <a:solidFill>
                      <a:srgbClr val="9084F9"/>
                    </a:solidFill>
                    <a:latin typeface="TT Hoves Bold"/>
                    <a:ea typeface="TT Hoves Bold"/>
                    <a:cs typeface="TT Hoves Bold"/>
                    <a:sym typeface="TT Hoves Bold"/>
                  </a:rPr>
                  <a:t>AdminEventList.tsx</a:t>
                </a:r>
              </a:p>
            </p:txBody>
          </p:sp>
        </p:grpSp>
        <p:grpSp>
          <p:nvGrpSpPr>
            <p:cNvPr id="92" name="Group 92"/>
            <p:cNvGrpSpPr/>
            <p:nvPr/>
          </p:nvGrpSpPr>
          <p:grpSpPr>
            <a:xfrm>
              <a:off x="505272" y="3963351"/>
              <a:ext cx="3446673" cy="576191"/>
              <a:chOff x="0" y="0"/>
              <a:chExt cx="812800" cy="135878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0" y="0"/>
                <a:ext cx="812800" cy="13587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35878">
                    <a:moveTo>
                      <a:pt x="67939" y="0"/>
                    </a:moveTo>
                    <a:lnTo>
                      <a:pt x="744861" y="0"/>
                    </a:lnTo>
                    <a:cubicBezTo>
                      <a:pt x="782383" y="0"/>
                      <a:pt x="812800" y="30417"/>
                      <a:pt x="812800" y="67939"/>
                    </a:cubicBezTo>
                    <a:lnTo>
                      <a:pt x="812800" y="67939"/>
                    </a:lnTo>
                    <a:cubicBezTo>
                      <a:pt x="812800" y="105461"/>
                      <a:pt x="782383" y="135878"/>
                      <a:pt x="744861" y="135878"/>
                    </a:cubicBezTo>
                    <a:lnTo>
                      <a:pt x="67939" y="135878"/>
                    </a:lnTo>
                    <a:cubicBezTo>
                      <a:pt x="30417" y="135878"/>
                      <a:pt x="0" y="105461"/>
                      <a:pt x="0" y="67939"/>
                    </a:cubicBezTo>
                    <a:lnTo>
                      <a:pt x="0" y="67939"/>
                    </a:lnTo>
                    <a:cubicBezTo>
                      <a:pt x="0" y="30417"/>
                      <a:pt x="30417" y="0"/>
                      <a:pt x="6793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rnd">
                <a:solidFill>
                  <a:srgbClr val="9084F9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0" y="-19050"/>
                <a:ext cx="812800" cy="1549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20"/>
                  </a:lnSpc>
                </a:pPr>
                <a:r>
                  <a:rPr lang="en-US" sz="1300" b="1">
                    <a:solidFill>
                      <a:srgbClr val="9084F9"/>
                    </a:solidFill>
                    <a:latin typeface="TT Hoves Bold"/>
                    <a:ea typeface="TT Hoves Bold"/>
                    <a:cs typeface="TT Hoves Bold"/>
                    <a:sym typeface="TT Hoves Bold"/>
                  </a:rPr>
                  <a:t>AdminDashboard.tex</a:t>
                </a:r>
              </a:p>
            </p:txBody>
          </p:sp>
        </p:grpSp>
        <p:grpSp>
          <p:nvGrpSpPr>
            <p:cNvPr id="95" name="Group 95"/>
            <p:cNvGrpSpPr/>
            <p:nvPr/>
          </p:nvGrpSpPr>
          <p:grpSpPr>
            <a:xfrm>
              <a:off x="4701140" y="6147195"/>
              <a:ext cx="2101111" cy="549453"/>
              <a:chOff x="0" y="0"/>
              <a:chExt cx="495487" cy="129573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0" y="0"/>
                <a:ext cx="495487" cy="129573"/>
              </a:xfrm>
              <a:custGeom>
                <a:avLst/>
                <a:gdLst/>
                <a:ahLst/>
                <a:cxnLst/>
                <a:rect l="l" t="t" r="r" b="b"/>
                <a:pathLst>
                  <a:path w="495487" h="129573">
                    <a:moveTo>
                      <a:pt x="0" y="0"/>
                    </a:moveTo>
                    <a:lnTo>
                      <a:pt x="495487" y="0"/>
                    </a:lnTo>
                    <a:lnTo>
                      <a:pt x="495487" y="129573"/>
                    </a:lnTo>
                    <a:lnTo>
                      <a:pt x="0" y="12957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sq">
                <a:solidFill>
                  <a:srgbClr val="E2A9F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0" y="-9525"/>
                <a:ext cx="495487" cy="1390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80"/>
                  </a:lnSpc>
                </a:pPr>
                <a:r>
                  <a:rPr lang="en-US" sz="1200" b="1">
                    <a:solidFill>
                      <a:srgbClr val="E2A9F1"/>
                    </a:solidFill>
                    <a:latin typeface="TT Hoves Bold"/>
                    <a:ea typeface="TT Hoves Bold"/>
                    <a:cs typeface="TT Hoves Bold"/>
                    <a:sym typeface="TT Hoves Bold"/>
                  </a:rPr>
                  <a:t>“New event form”</a:t>
                </a:r>
              </a:p>
            </p:txBody>
          </p:sp>
        </p:grpSp>
        <p:grpSp>
          <p:nvGrpSpPr>
            <p:cNvPr id="98" name="Group 98"/>
            <p:cNvGrpSpPr/>
            <p:nvPr/>
          </p:nvGrpSpPr>
          <p:grpSpPr>
            <a:xfrm>
              <a:off x="1488026" y="1776948"/>
              <a:ext cx="2101111" cy="576191"/>
              <a:chOff x="0" y="0"/>
              <a:chExt cx="495487" cy="135878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0" y="0"/>
                <a:ext cx="495487" cy="135878"/>
              </a:xfrm>
              <a:custGeom>
                <a:avLst/>
                <a:gdLst/>
                <a:ahLst/>
                <a:cxnLst/>
                <a:rect l="l" t="t" r="r" b="b"/>
                <a:pathLst>
                  <a:path w="495487" h="135878">
                    <a:moveTo>
                      <a:pt x="0" y="0"/>
                    </a:moveTo>
                    <a:lnTo>
                      <a:pt x="495487" y="0"/>
                    </a:lnTo>
                    <a:lnTo>
                      <a:pt x="495487" y="135878"/>
                    </a:lnTo>
                    <a:lnTo>
                      <a:pt x="0" y="13587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sq">
                <a:solidFill>
                  <a:srgbClr val="E2A9F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00" name="TextBox 100"/>
              <p:cNvSpPr txBox="1"/>
              <p:nvPr/>
            </p:nvSpPr>
            <p:spPr>
              <a:xfrm>
                <a:off x="0" y="-28575"/>
                <a:ext cx="495487" cy="1644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19"/>
                  </a:lnSpc>
                </a:pPr>
                <a:r>
                  <a:rPr lang="en-US" sz="1299" b="1">
                    <a:solidFill>
                      <a:srgbClr val="E2A9F1"/>
                    </a:solidFill>
                    <a:latin typeface="TT Hoves Bold"/>
                    <a:ea typeface="TT Hoves Bold"/>
                    <a:cs typeface="TT Hoves Bold"/>
                    <a:sym typeface="TT Hoves Bold"/>
                  </a:rPr>
                  <a:t>“Liste eventi”</a:t>
                </a:r>
              </a:p>
            </p:txBody>
          </p:sp>
        </p:grpSp>
        <p:grpSp>
          <p:nvGrpSpPr>
            <p:cNvPr id="101" name="Group 101"/>
            <p:cNvGrpSpPr/>
            <p:nvPr/>
          </p:nvGrpSpPr>
          <p:grpSpPr>
            <a:xfrm>
              <a:off x="1488026" y="3234760"/>
              <a:ext cx="2101111" cy="576191"/>
              <a:chOff x="0" y="0"/>
              <a:chExt cx="495487" cy="135878"/>
            </a:xfrm>
          </p:grpSpPr>
          <p:sp>
            <p:nvSpPr>
              <p:cNvPr id="102" name="Freeform 102"/>
              <p:cNvSpPr/>
              <p:nvPr/>
            </p:nvSpPr>
            <p:spPr>
              <a:xfrm>
                <a:off x="0" y="0"/>
                <a:ext cx="495487" cy="135878"/>
              </a:xfrm>
              <a:custGeom>
                <a:avLst/>
                <a:gdLst/>
                <a:ahLst/>
                <a:cxnLst/>
                <a:rect l="l" t="t" r="r" b="b"/>
                <a:pathLst>
                  <a:path w="495487" h="135878">
                    <a:moveTo>
                      <a:pt x="0" y="0"/>
                    </a:moveTo>
                    <a:lnTo>
                      <a:pt x="495487" y="0"/>
                    </a:lnTo>
                    <a:lnTo>
                      <a:pt x="495487" y="135878"/>
                    </a:lnTo>
                    <a:lnTo>
                      <a:pt x="0" y="13587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sq">
                <a:solidFill>
                  <a:srgbClr val="E2A9F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03" name="TextBox 103"/>
              <p:cNvSpPr txBox="1"/>
              <p:nvPr/>
            </p:nvSpPr>
            <p:spPr>
              <a:xfrm>
                <a:off x="0" y="-28575"/>
                <a:ext cx="495487" cy="1644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19"/>
                  </a:lnSpc>
                </a:pPr>
                <a:r>
                  <a:rPr lang="en-US" sz="1299" b="1">
                    <a:solidFill>
                      <a:srgbClr val="E2A9F1"/>
                    </a:solidFill>
                    <a:latin typeface="TT Hoves Bold"/>
                    <a:ea typeface="TT Hoves Bold"/>
                    <a:cs typeface="TT Hoves Bold"/>
                    <a:sym typeface="TT Hoves Bold"/>
                  </a:rPr>
                  <a:t>Moderazione</a:t>
                </a:r>
              </a:p>
            </p:txBody>
          </p:sp>
        </p:grpSp>
        <p:grpSp>
          <p:nvGrpSpPr>
            <p:cNvPr id="104" name="Group 104"/>
            <p:cNvGrpSpPr/>
            <p:nvPr/>
          </p:nvGrpSpPr>
          <p:grpSpPr>
            <a:xfrm>
              <a:off x="1524050" y="4687881"/>
              <a:ext cx="2101111" cy="576191"/>
              <a:chOff x="0" y="0"/>
              <a:chExt cx="495487" cy="135878"/>
            </a:xfrm>
          </p:grpSpPr>
          <p:sp>
            <p:nvSpPr>
              <p:cNvPr id="105" name="Freeform 105"/>
              <p:cNvSpPr/>
              <p:nvPr/>
            </p:nvSpPr>
            <p:spPr>
              <a:xfrm>
                <a:off x="0" y="0"/>
                <a:ext cx="495487" cy="135878"/>
              </a:xfrm>
              <a:custGeom>
                <a:avLst/>
                <a:gdLst/>
                <a:ahLst/>
                <a:cxnLst/>
                <a:rect l="l" t="t" r="r" b="b"/>
                <a:pathLst>
                  <a:path w="495487" h="135878">
                    <a:moveTo>
                      <a:pt x="0" y="0"/>
                    </a:moveTo>
                    <a:lnTo>
                      <a:pt x="495487" y="0"/>
                    </a:lnTo>
                    <a:lnTo>
                      <a:pt x="495487" y="135878"/>
                    </a:lnTo>
                    <a:lnTo>
                      <a:pt x="0" y="13587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sq">
                <a:solidFill>
                  <a:srgbClr val="E2A9F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06" name="TextBox 106"/>
              <p:cNvSpPr txBox="1"/>
              <p:nvPr/>
            </p:nvSpPr>
            <p:spPr>
              <a:xfrm>
                <a:off x="0" y="-19050"/>
                <a:ext cx="495487" cy="1549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20"/>
                  </a:lnSpc>
                </a:pPr>
                <a:r>
                  <a:rPr lang="en-US" sz="1300" b="1">
                    <a:solidFill>
                      <a:srgbClr val="E2A9F1"/>
                    </a:solidFill>
                    <a:latin typeface="TT Hoves Bold"/>
                    <a:ea typeface="TT Hoves Bold"/>
                    <a:cs typeface="TT Hoves Bold"/>
                    <a:sym typeface="TT Hoves Bold"/>
                  </a:rPr>
                  <a:t>Gestione Utenti</a:t>
                </a:r>
              </a:p>
            </p:txBody>
          </p:sp>
        </p:grpSp>
        <p:grpSp>
          <p:nvGrpSpPr>
            <p:cNvPr id="107" name="Group 107"/>
            <p:cNvGrpSpPr/>
            <p:nvPr/>
          </p:nvGrpSpPr>
          <p:grpSpPr>
            <a:xfrm>
              <a:off x="1524050" y="5416472"/>
              <a:ext cx="2101111" cy="576191"/>
              <a:chOff x="0" y="0"/>
              <a:chExt cx="495487" cy="135878"/>
            </a:xfrm>
          </p:grpSpPr>
          <p:sp>
            <p:nvSpPr>
              <p:cNvPr id="108" name="Freeform 108"/>
              <p:cNvSpPr/>
              <p:nvPr/>
            </p:nvSpPr>
            <p:spPr>
              <a:xfrm>
                <a:off x="0" y="0"/>
                <a:ext cx="495487" cy="135878"/>
              </a:xfrm>
              <a:custGeom>
                <a:avLst/>
                <a:gdLst/>
                <a:ahLst/>
                <a:cxnLst/>
                <a:rect l="l" t="t" r="r" b="b"/>
                <a:pathLst>
                  <a:path w="495487" h="135878">
                    <a:moveTo>
                      <a:pt x="0" y="0"/>
                    </a:moveTo>
                    <a:lnTo>
                      <a:pt x="495487" y="0"/>
                    </a:lnTo>
                    <a:lnTo>
                      <a:pt x="495487" y="135878"/>
                    </a:lnTo>
                    <a:lnTo>
                      <a:pt x="0" y="13587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sq">
                <a:solidFill>
                  <a:srgbClr val="E2A9F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09" name="TextBox 109"/>
              <p:cNvSpPr txBox="1"/>
              <p:nvPr/>
            </p:nvSpPr>
            <p:spPr>
              <a:xfrm>
                <a:off x="0" y="-19050"/>
                <a:ext cx="495487" cy="1549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20"/>
                  </a:lnSpc>
                </a:pPr>
                <a:r>
                  <a:rPr lang="en-US" sz="1300" b="1">
                    <a:solidFill>
                      <a:srgbClr val="E2A9F1"/>
                    </a:solidFill>
                    <a:latin typeface="TT Hoves Bold"/>
                    <a:ea typeface="TT Hoves Bold"/>
                    <a:cs typeface="TT Hoves Bold"/>
                    <a:sym typeface="TT Hoves Bold"/>
                  </a:rPr>
                  <a:t>Gestione Utenti</a:t>
                </a:r>
              </a:p>
            </p:txBody>
          </p:sp>
        </p:grpSp>
        <p:grpSp>
          <p:nvGrpSpPr>
            <p:cNvPr id="110" name="Group 110"/>
            <p:cNvGrpSpPr/>
            <p:nvPr/>
          </p:nvGrpSpPr>
          <p:grpSpPr>
            <a:xfrm>
              <a:off x="1524050" y="6120458"/>
              <a:ext cx="2101111" cy="576191"/>
              <a:chOff x="0" y="0"/>
              <a:chExt cx="495487" cy="135878"/>
            </a:xfrm>
          </p:grpSpPr>
          <p:sp>
            <p:nvSpPr>
              <p:cNvPr id="111" name="Freeform 111"/>
              <p:cNvSpPr/>
              <p:nvPr/>
            </p:nvSpPr>
            <p:spPr>
              <a:xfrm>
                <a:off x="0" y="0"/>
                <a:ext cx="495487" cy="135878"/>
              </a:xfrm>
              <a:custGeom>
                <a:avLst/>
                <a:gdLst/>
                <a:ahLst/>
                <a:cxnLst/>
                <a:rect l="l" t="t" r="r" b="b"/>
                <a:pathLst>
                  <a:path w="495487" h="135878">
                    <a:moveTo>
                      <a:pt x="0" y="0"/>
                    </a:moveTo>
                    <a:lnTo>
                      <a:pt x="495487" y="0"/>
                    </a:lnTo>
                    <a:lnTo>
                      <a:pt x="495487" y="135878"/>
                    </a:lnTo>
                    <a:lnTo>
                      <a:pt x="0" y="13587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sq">
                <a:solidFill>
                  <a:srgbClr val="E2A9F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12" name="TextBox 112"/>
              <p:cNvSpPr txBox="1"/>
              <p:nvPr/>
            </p:nvSpPr>
            <p:spPr>
              <a:xfrm>
                <a:off x="0" y="-19050"/>
                <a:ext cx="495487" cy="1549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20"/>
                  </a:lnSpc>
                </a:pPr>
                <a:r>
                  <a:rPr lang="en-US" sz="1300" b="1">
                    <a:solidFill>
                      <a:srgbClr val="E2A9F1"/>
                    </a:solidFill>
                    <a:latin typeface="TT Hoves Bold"/>
                    <a:ea typeface="TT Hoves Bold"/>
                    <a:cs typeface="TT Hoves Bold"/>
                    <a:sym typeface="TT Hoves Bold"/>
                  </a:rPr>
                  <a:t>Gestione Utenti</a:t>
                </a:r>
              </a:p>
            </p:txBody>
          </p:sp>
        </p:grpSp>
        <p:sp>
          <p:nvSpPr>
            <p:cNvPr id="113" name="AutoShape 113"/>
            <p:cNvSpPr/>
            <p:nvPr/>
          </p:nvSpPr>
          <p:spPr>
            <a:xfrm>
              <a:off x="6802251" y="6435291"/>
              <a:ext cx="429072" cy="0"/>
            </a:xfrm>
            <a:prstGeom prst="line">
              <a:avLst/>
            </a:prstGeom>
            <a:ln w="50800" cap="flat">
              <a:solidFill>
                <a:srgbClr val="E2A9F1"/>
              </a:solidFill>
              <a:prstDash val="sysDot"/>
              <a:headEnd type="arrow" w="med" len="sm"/>
              <a:tailEnd type="none" w="sm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14" name="AutoShape 114"/>
            <p:cNvSpPr/>
            <p:nvPr/>
          </p:nvSpPr>
          <p:spPr>
            <a:xfrm>
              <a:off x="7231323" y="5994165"/>
              <a:ext cx="0" cy="441126"/>
            </a:xfrm>
            <a:prstGeom prst="line">
              <a:avLst/>
            </a:prstGeom>
            <a:ln w="50800" cap="flat">
              <a:solidFill>
                <a:srgbClr val="E2A9F1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15" name="AutoShape 115"/>
            <p:cNvSpPr/>
            <p:nvPr/>
          </p:nvSpPr>
          <p:spPr>
            <a:xfrm flipH="1">
              <a:off x="25400" y="448145"/>
              <a:ext cx="2203307" cy="0"/>
            </a:xfrm>
            <a:prstGeom prst="line">
              <a:avLst/>
            </a:prstGeom>
            <a:ln w="50800" cap="flat">
              <a:solidFill>
                <a:srgbClr val="9084F9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16" name="AutoShape 116"/>
            <p:cNvSpPr/>
            <p:nvPr/>
          </p:nvSpPr>
          <p:spPr>
            <a:xfrm>
              <a:off x="25400" y="1361222"/>
              <a:ext cx="479872" cy="0"/>
            </a:xfrm>
            <a:prstGeom prst="line">
              <a:avLst/>
            </a:prstGeom>
            <a:ln w="50800" cap="flat">
              <a:solidFill>
                <a:srgbClr val="9084F9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17" name="AutoShape 117"/>
            <p:cNvSpPr/>
            <p:nvPr/>
          </p:nvSpPr>
          <p:spPr>
            <a:xfrm flipV="1">
              <a:off x="25400" y="448145"/>
              <a:ext cx="0" cy="3803301"/>
            </a:xfrm>
            <a:prstGeom prst="line">
              <a:avLst/>
            </a:prstGeom>
            <a:ln w="50800" cap="flat">
              <a:solidFill>
                <a:srgbClr val="9084F9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18" name="AutoShape 118"/>
            <p:cNvSpPr/>
            <p:nvPr/>
          </p:nvSpPr>
          <p:spPr>
            <a:xfrm>
              <a:off x="25400" y="4251446"/>
              <a:ext cx="479872" cy="42126"/>
            </a:xfrm>
            <a:prstGeom prst="line">
              <a:avLst/>
            </a:prstGeom>
            <a:ln w="50800" cap="flat">
              <a:solidFill>
                <a:srgbClr val="9084F9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19" name="AutoShape 119"/>
            <p:cNvSpPr/>
            <p:nvPr/>
          </p:nvSpPr>
          <p:spPr>
            <a:xfrm>
              <a:off x="25400" y="2793634"/>
              <a:ext cx="479872" cy="0"/>
            </a:xfrm>
            <a:prstGeom prst="line">
              <a:avLst/>
            </a:prstGeom>
            <a:ln w="50800" cap="flat">
              <a:solidFill>
                <a:srgbClr val="9084F9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20" name="AutoShape 120"/>
            <p:cNvSpPr/>
            <p:nvPr/>
          </p:nvSpPr>
          <p:spPr>
            <a:xfrm flipH="1">
              <a:off x="5909473" y="448145"/>
              <a:ext cx="2203307" cy="0"/>
            </a:xfrm>
            <a:prstGeom prst="line">
              <a:avLst/>
            </a:prstGeom>
            <a:ln w="50800" cap="flat">
              <a:solidFill>
                <a:srgbClr val="9084F9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21" name="AutoShape 121"/>
            <p:cNvSpPr/>
            <p:nvPr/>
          </p:nvSpPr>
          <p:spPr>
            <a:xfrm flipH="1">
              <a:off x="7632650" y="1335822"/>
              <a:ext cx="480130" cy="0"/>
            </a:xfrm>
            <a:prstGeom prst="line">
              <a:avLst/>
            </a:prstGeom>
            <a:ln w="50800" cap="flat">
              <a:solidFill>
                <a:srgbClr val="9084F9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22" name="AutoShape 122"/>
            <p:cNvSpPr/>
            <p:nvPr/>
          </p:nvSpPr>
          <p:spPr>
            <a:xfrm flipV="1">
              <a:off x="8112780" y="469520"/>
              <a:ext cx="0" cy="5236550"/>
            </a:xfrm>
            <a:prstGeom prst="line">
              <a:avLst/>
            </a:prstGeom>
            <a:ln w="50800" cap="flat">
              <a:solidFill>
                <a:srgbClr val="9084F9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23" name="AutoShape 123"/>
            <p:cNvSpPr/>
            <p:nvPr/>
          </p:nvSpPr>
          <p:spPr>
            <a:xfrm flipH="1">
              <a:off x="7632650" y="3522225"/>
              <a:ext cx="480130" cy="0"/>
            </a:xfrm>
            <a:prstGeom prst="line">
              <a:avLst/>
            </a:prstGeom>
            <a:ln w="50800" cap="flat">
              <a:solidFill>
                <a:srgbClr val="9084F9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124" name="AutoShape 124"/>
            <p:cNvSpPr/>
            <p:nvPr/>
          </p:nvSpPr>
          <p:spPr>
            <a:xfrm flipH="1">
              <a:off x="7632650" y="5704567"/>
              <a:ext cx="480130" cy="0"/>
            </a:xfrm>
            <a:prstGeom prst="line">
              <a:avLst/>
            </a:prstGeom>
            <a:ln w="50800" cap="flat">
              <a:solidFill>
                <a:srgbClr val="9084F9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25" name="TextBox 125"/>
          <p:cNvSpPr txBox="1"/>
          <p:nvPr/>
        </p:nvSpPr>
        <p:spPr>
          <a:xfrm>
            <a:off x="12050693" y="6673176"/>
            <a:ext cx="5318962" cy="1198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4388"/>
              </a:lnSpc>
              <a:spcBef>
                <a:spcPct val="0"/>
              </a:spcBef>
            </a:pPr>
            <a:r>
              <a:rPr lang="en-US" sz="6095" b="1" u="none" strike="noStrike" spc="-298" dirty="0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Frontend Component UI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14141979" y="9464838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AA 2026/26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1028700" y="9464838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TWeb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7585339" y="9464838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Social Pizza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5484590" y="9464838"/>
            <a:ext cx="140626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12330761" y="9464838"/>
            <a:ext cx="140626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id="131" name="Freeform 55">
            <a:extLst>
              <a:ext uri="{FF2B5EF4-FFF2-40B4-BE49-F238E27FC236}">
                <a16:creationId xmlns:a16="http://schemas.microsoft.com/office/drawing/2014/main" id="{1E03FF46-D411-E71C-554E-82623CBE0878}"/>
              </a:ext>
            </a:extLst>
          </p:cNvPr>
          <p:cNvSpPr/>
          <p:nvPr/>
        </p:nvSpPr>
        <p:spPr>
          <a:xfrm>
            <a:off x="8764659" y="5990812"/>
            <a:ext cx="2585005" cy="410188"/>
          </a:xfrm>
          <a:custGeom>
            <a:avLst/>
            <a:gdLst/>
            <a:ahLst/>
            <a:cxnLst/>
            <a:rect l="l" t="t" r="r" b="b"/>
            <a:pathLst>
              <a:path w="812800" h="135878">
                <a:moveTo>
                  <a:pt x="67939" y="0"/>
                </a:moveTo>
                <a:lnTo>
                  <a:pt x="744861" y="0"/>
                </a:lnTo>
                <a:cubicBezTo>
                  <a:pt x="782383" y="0"/>
                  <a:pt x="812800" y="30417"/>
                  <a:pt x="812800" y="67939"/>
                </a:cubicBezTo>
                <a:lnTo>
                  <a:pt x="812800" y="67939"/>
                </a:lnTo>
                <a:cubicBezTo>
                  <a:pt x="812800" y="105461"/>
                  <a:pt x="782383" y="135878"/>
                  <a:pt x="744861" y="135878"/>
                </a:cubicBezTo>
                <a:lnTo>
                  <a:pt x="67939" y="135878"/>
                </a:lnTo>
                <a:cubicBezTo>
                  <a:pt x="30417" y="135878"/>
                  <a:pt x="0" y="105461"/>
                  <a:pt x="0" y="67939"/>
                </a:cubicBezTo>
                <a:lnTo>
                  <a:pt x="0" y="67939"/>
                </a:lnTo>
                <a:cubicBezTo>
                  <a:pt x="0" y="30417"/>
                  <a:pt x="30417" y="0"/>
                  <a:pt x="67939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7150" cap="rnd">
            <a:solidFill>
              <a:srgbClr val="9084F9"/>
            </a:solidFill>
            <a:prstDash val="solid"/>
            <a:round/>
          </a:ln>
        </p:spPr>
        <p:txBody>
          <a:bodyPr/>
          <a:lstStyle/>
          <a:p>
            <a:pPr algn="ctr">
              <a:lnSpc>
                <a:spcPts val="1820"/>
              </a:lnSpc>
            </a:pPr>
            <a:r>
              <a:rPr lang="en-US" sz="1300" b="1" dirty="0" err="1">
                <a:solidFill>
                  <a:srgbClr val="9084F9"/>
                </a:solidFill>
                <a:latin typeface="TT Hoves Bold"/>
                <a:ea typeface="TT Hoves Bold"/>
                <a:cs typeface="TT Hoves Bold"/>
                <a:sym typeface="TT Hoves Bold"/>
              </a:rPr>
              <a:t>MyCreatedEvents.tsx</a:t>
            </a:r>
            <a:endParaRPr lang="en-US" sz="1300" b="1" dirty="0">
              <a:solidFill>
                <a:srgbClr val="9084F9"/>
              </a:solidFill>
              <a:latin typeface="TT Hoves Bold"/>
              <a:ea typeface="TT Hoves Bold"/>
              <a:cs typeface="TT Hoves Bold"/>
              <a:sym typeface="TT Hoves Bold"/>
            </a:endParaRPr>
          </a:p>
        </p:txBody>
      </p:sp>
      <p:sp>
        <p:nvSpPr>
          <p:cNvPr id="135" name="AutoShape 123">
            <a:extLst>
              <a:ext uri="{FF2B5EF4-FFF2-40B4-BE49-F238E27FC236}">
                <a16:creationId xmlns:a16="http://schemas.microsoft.com/office/drawing/2014/main" id="{BBF1E498-C081-A905-CE41-E201D3C30C1D}"/>
              </a:ext>
            </a:extLst>
          </p:cNvPr>
          <p:cNvSpPr/>
          <p:nvPr/>
        </p:nvSpPr>
        <p:spPr>
          <a:xfrm flipH="1">
            <a:off x="11353800" y="6194977"/>
            <a:ext cx="360098" cy="0"/>
          </a:xfrm>
          <a:prstGeom prst="line">
            <a:avLst/>
          </a:prstGeom>
          <a:ln w="50800" cap="flat">
            <a:solidFill>
              <a:srgbClr val="9084F9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672061" y="1025292"/>
            <a:ext cx="5587239" cy="2662922"/>
            <a:chOff x="0" y="0"/>
            <a:chExt cx="2065940" cy="9846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65940" cy="984643"/>
            </a:xfrm>
            <a:custGeom>
              <a:avLst/>
              <a:gdLst/>
              <a:ahLst/>
              <a:cxnLst/>
              <a:rect l="l" t="t" r="r" b="b"/>
              <a:pathLst>
                <a:path w="2065940" h="984643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solidFill>
              <a:srgbClr val="0003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416809" y="7139097"/>
            <a:ext cx="6393149" cy="4116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64"/>
              </a:lnSpc>
            </a:pPr>
            <a:r>
              <a:rPr lang="en-US" sz="32302" b="1" spc="-158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06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1672061" y="6595378"/>
            <a:ext cx="5587239" cy="2662922"/>
            <a:chOff x="0" y="0"/>
            <a:chExt cx="2065940" cy="98464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65940" cy="984643"/>
            </a:xfrm>
            <a:custGeom>
              <a:avLst/>
              <a:gdLst/>
              <a:ahLst/>
              <a:cxnLst/>
              <a:rect l="l" t="t" r="r" b="b"/>
              <a:pathLst>
                <a:path w="2065940" h="984643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solidFill>
              <a:srgbClr val="0003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3126789" y="-2986203"/>
            <a:ext cx="9584989" cy="9584989"/>
          </a:xfrm>
          <a:custGeom>
            <a:avLst/>
            <a:gdLst/>
            <a:ahLst/>
            <a:cxnLst/>
            <a:rect l="l" t="t" r="r" b="b"/>
            <a:pathLst>
              <a:path w="9584989" h="9584989">
                <a:moveTo>
                  <a:pt x="0" y="0"/>
                </a:moveTo>
                <a:lnTo>
                  <a:pt x="9584989" y="0"/>
                </a:lnTo>
                <a:lnTo>
                  <a:pt x="9584989" y="9584989"/>
                </a:lnTo>
                <a:lnTo>
                  <a:pt x="0" y="95849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0" name="Group 10"/>
          <p:cNvGrpSpPr/>
          <p:nvPr/>
        </p:nvGrpSpPr>
        <p:grpSpPr>
          <a:xfrm>
            <a:off x="1028700" y="1028700"/>
            <a:ext cx="5587239" cy="2662922"/>
            <a:chOff x="0" y="0"/>
            <a:chExt cx="2065940" cy="98464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65940" cy="984643"/>
            </a:xfrm>
            <a:custGeom>
              <a:avLst/>
              <a:gdLst/>
              <a:ahLst/>
              <a:cxnLst/>
              <a:rect l="l" t="t" r="r" b="b"/>
              <a:pathLst>
                <a:path w="2065940" h="984643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solidFill>
              <a:srgbClr val="0003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8700" y="6598786"/>
            <a:ext cx="5587239" cy="2662922"/>
            <a:chOff x="0" y="0"/>
            <a:chExt cx="2065940" cy="98464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65940" cy="984643"/>
            </a:xfrm>
            <a:custGeom>
              <a:avLst/>
              <a:gdLst/>
              <a:ahLst/>
              <a:cxnLst/>
              <a:rect l="l" t="t" r="r" b="b"/>
              <a:pathLst>
                <a:path w="2065940" h="984643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solidFill>
              <a:srgbClr val="0003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 rot="-7900054">
            <a:off x="7348622" y="2133028"/>
            <a:ext cx="1012981" cy="454921"/>
          </a:xfrm>
          <a:custGeom>
            <a:avLst/>
            <a:gdLst/>
            <a:ahLst/>
            <a:cxnLst/>
            <a:rect l="l" t="t" r="r" b="b"/>
            <a:pathLst>
              <a:path w="1012981" h="454921">
                <a:moveTo>
                  <a:pt x="0" y="0"/>
                </a:moveTo>
                <a:lnTo>
                  <a:pt x="1012982" y="0"/>
                </a:lnTo>
                <a:lnTo>
                  <a:pt x="1012982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7" name="Freeform 17"/>
          <p:cNvSpPr/>
          <p:nvPr/>
        </p:nvSpPr>
        <p:spPr>
          <a:xfrm rot="-2700000">
            <a:off x="10017119" y="2144497"/>
            <a:ext cx="1012981" cy="454921"/>
          </a:xfrm>
          <a:custGeom>
            <a:avLst/>
            <a:gdLst/>
            <a:ahLst/>
            <a:cxnLst/>
            <a:rect l="l" t="t" r="r" b="b"/>
            <a:pathLst>
              <a:path w="1012981" h="454921">
                <a:moveTo>
                  <a:pt x="0" y="0"/>
                </a:moveTo>
                <a:lnTo>
                  <a:pt x="1012982" y="0"/>
                </a:lnTo>
                <a:lnTo>
                  <a:pt x="1012982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8" name="Freeform 18"/>
          <p:cNvSpPr/>
          <p:nvPr/>
        </p:nvSpPr>
        <p:spPr>
          <a:xfrm rot="3209977">
            <a:off x="9982257" y="7689589"/>
            <a:ext cx="1012981" cy="454921"/>
          </a:xfrm>
          <a:custGeom>
            <a:avLst/>
            <a:gdLst/>
            <a:ahLst/>
            <a:cxnLst/>
            <a:rect l="l" t="t" r="r" b="b"/>
            <a:pathLst>
              <a:path w="1012981" h="454921">
                <a:moveTo>
                  <a:pt x="0" y="0"/>
                </a:moveTo>
                <a:lnTo>
                  <a:pt x="1012981" y="0"/>
                </a:lnTo>
                <a:lnTo>
                  <a:pt x="1012981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9" name="Freeform 19"/>
          <p:cNvSpPr/>
          <p:nvPr/>
        </p:nvSpPr>
        <p:spPr>
          <a:xfrm rot="7866361">
            <a:off x="7243302" y="7665457"/>
            <a:ext cx="1012981" cy="454921"/>
          </a:xfrm>
          <a:custGeom>
            <a:avLst/>
            <a:gdLst/>
            <a:ahLst/>
            <a:cxnLst/>
            <a:rect l="l" t="t" r="r" b="b"/>
            <a:pathLst>
              <a:path w="1012981" h="454921">
                <a:moveTo>
                  <a:pt x="0" y="0"/>
                </a:moveTo>
                <a:lnTo>
                  <a:pt x="1012982" y="0"/>
                </a:lnTo>
                <a:lnTo>
                  <a:pt x="1012982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0" name="TextBox 20"/>
          <p:cNvSpPr txBox="1"/>
          <p:nvPr/>
        </p:nvSpPr>
        <p:spPr>
          <a:xfrm>
            <a:off x="6851292" y="3970713"/>
            <a:ext cx="4585415" cy="1863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78"/>
              </a:lnSpc>
            </a:pPr>
            <a:r>
              <a:rPr lang="en-US" sz="7400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Backend</a:t>
            </a:r>
          </a:p>
          <a:p>
            <a:pPr marL="0" lvl="1" indent="0" algn="ctr">
              <a:lnSpc>
                <a:spcPts val="7178"/>
              </a:lnSpc>
              <a:spcBef>
                <a:spcPct val="0"/>
              </a:spcBef>
            </a:pPr>
            <a:r>
              <a:rPr lang="en-US" sz="7400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Structure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438539" y="2157107"/>
            <a:ext cx="3177400" cy="515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831"/>
              </a:lnSpc>
              <a:spcBef>
                <a:spcPct val="0"/>
              </a:spcBef>
            </a:pPr>
            <a:r>
              <a:rPr lang="en-US" sz="3949" b="1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Controller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438539" y="7702199"/>
            <a:ext cx="3177400" cy="515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831"/>
              </a:lnSpc>
              <a:spcBef>
                <a:spcPct val="0"/>
              </a:spcBef>
            </a:pPr>
            <a:r>
              <a:rPr lang="en-US" sz="3949" b="1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Service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035409" y="2157107"/>
            <a:ext cx="3177400" cy="515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831"/>
              </a:lnSpc>
              <a:spcBef>
                <a:spcPct val="0"/>
              </a:spcBef>
            </a:pPr>
            <a:r>
              <a:rPr lang="en-US" sz="3949" b="1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Repository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035409" y="7715397"/>
            <a:ext cx="3177400" cy="515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831"/>
              </a:lnSpc>
              <a:spcBef>
                <a:spcPct val="0"/>
              </a:spcBef>
            </a:pPr>
            <a:r>
              <a:rPr lang="en-US" sz="3949" b="1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Entity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362365" y="6159736"/>
            <a:ext cx="3563270" cy="396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2"/>
              </a:lnSpc>
            </a:pPr>
            <a:r>
              <a:rPr lang="en-US" sz="29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Java Spring Boot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09697" y="1825939"/>
            <a:ext cx="1771103" cy="1368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57"/>
              </a:lnSpc>
            </a:pPr>
            <a:r>
              <a:rPr lang="en-US" sz="10806" b="1" spc="-52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09697" y="7332211"/>
            <a:ext cx="1771103" cy="1368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57"/>
              </a:lnSpc>
            </a:pPr>
            <a:r>
              <a:rPr lang="en-US" sz="10806" b="1" spc="-52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102381" y="1810735"/>
            <a:ext cx="1771103" cy="1368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57"/>
              </a:lnSpc>
            </a:pPr>
            <a:r>
              <a:rPr lang="en-US" sz="10806" b="1" spc="-52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102381" y="7304532"/>
            <a:ext cx="1771103" cy="1368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57"/>
              </a:lnSpc>
            </a:pPr>
            <a:r>
              <a:rPr lang="en-US" sz="10806" b="1" spc="-52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126789" y="-2986203"/>
            <a:ext cx="7624730" cy="7624730"/>
          </a:xfrm>
          <a:custGeom>
            <a:avLst/>
            <a:gdLst/>
            <a:ahLst/>
            <a:cxnLst/>
            <a:rect l="l" t="t" r="r" b="b"/>
            <a:pathLst>
              <a:path w="7624730" h="7624730">
                <a:moveTo>
                  <a:pt x="0" y="0"/>
                </a:moveTo>
                <a:lnTo>
                  <a:pt x="7624731" y="0"/>
                </a:lnTo>
                <a:lnTo>
                  <a:pt x="7624731" y="7624731"/>
                </a:lnTo>
                <a:lnTo>
                  <a:pt x="0" y="7624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11109612" y="-666477"/>
            <a:ext cx="7178388" cy="11878896"/>
            <a:chOff x="0" y="0"/>
            <a:chExt cx="1890604" cy="31285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90604" cy="3128598"/>
            </a:xfrm>
            <a:custGeom>
              <a:avLst/>
              <a:gdLst/>
              <a:ahLst/>
              <a:cxnLst/>
              <a:rect l="l" t="t" r="r" b="b"/>
              <a:pathLst>
                <a:path w="1890604" h="3128598">
                  <a:moveTo>
                    <a:pt x="0" y="0"/>
                  </a:moveTo>
                  <a:lnTo>
                    <a:pt x="1890604" y="0"/>
                  </a:lnTo>
                  <a:lnTo>
                    <a:pt x="1890604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890604" cy="3185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 rot="-5400000">
            <a:off x="15959685" y="8154051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Social Pizza</a:t>
            </a:r>
          </a:p>
        </p:txBody>
      </p:sp>
      <p:sp>
        <p:nvSpPr>
          <p:cNvPr id="7" name="TextBox 7"/>
          <p:cNvSpPr txBox="1"/>
          <p:nvPr/>
        </p:nvSpPr>
        <p:spPr>
          <a:xfrm rot="-5400000">
            <a:off x="15959685" y="2386223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AA 2026/26</a:t>
            </a:r>
          </a:p>
        </p:txBody>
      </p:sp>
      <p:sp>
        <p:nvSpPr>
          <p:cNvPr id="8" name="TextBox 8"/>
          <p:cNvSpPr txBox="1"/>
          <p:nvPr/>
        </p:nvSpPr>
        <p:spPr>
          <a:xfrm rot="-5400000">
            <a:off x="16815216" y="5270137"/>
            <a:ext cx="140626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80136" y="7130873"/>
            <a:ext cx="6265091" cy="4832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sz="37888" b="1" spc="-1856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50684" y="2820152"/>
            <a:ext cx="2618373" cy="90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789"/>
              </a:lnSpc>
            </a:pPr>
            <a:r>
              <a:rPr lang="en-US" sz="6999" b="1" spc="-33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routes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4674018"/>
            <a:ext cx="2276565" cy="392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10"/>
              </a:lnSpc>
            </a:pPr>
            <a:r>
              <a:rPr lang="en-US" sz="3000" b="1" i="1" spc="-144">
                <a:solidFill>
                  <a:srgbClr val="9084F9"/>
                </a:solidFill>
                <a:latin typeface="TT Hoves Bold Italics"/>
                <a:ea typeface="TT Hoves Bold Italics"/>
                <a:cs typeface="TT Hoves Bold Italics"/>
                <a:sym typeface="TT Hoves Bold Italics"/>
              </a:rPr>
              <a:t>Auth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24365" y="4674018"/>
            <a:ext cx="2272376" cy="392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10"/>
              </a:lnSpc>
            </a:pPr>
            <a:r>
              <a:rPr lang="en-US" sz="3000" b="1" i="1" spc="-144">
                <a:solidFill>
                  <a:srgbClr val="9084F9"/>
                </a:solidFill>
                <a:latin typeface="TT Hoves Bold Italics"/>
                <a:ea typeface="TT Hoves Bold Italics"/>
                <a:cs typeface="TT Hoves Bold Italics"/>
                <a:sym typeface="TT Hoves Bold Italics"/>
              </a:rPr>
              <a:t>Eventi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24218" y="4684848"/>
            <a:ext cx="2272376" cy="392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10"/>
              </a:lnSpc>
            </a:pPr>
            <a:r>
              <a:rPr lang="en-US" sz="3000" b="1" i="1" spc="-144">
                <a:solidFill>
                  <a:srgbClr val="9084F9"/>
                </a:solidFill>
                <a:latin typeface="TT Hoves Bold Italics"/>
                <a:ea typeface="TT Hoves Bold Italics"/>
                <a:cs typeface="TT Hoves Bold Italics"/>
                <a:sym typeface="TT Hoves Bold Italics"/>
              </a:rPr>
              <a:t>Moderazioni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4000" y="4674018"/>
            <a:ext cx="2272376" cy="392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10"/>
              </a:lnSpc>
            </a:pPr>
            <a:r>
              <a:rPr lang="en-US" sz="3000" b="1" i="1" spc="-144">
                <a:solidFill>
                  <a:srgbClr val="9084F9"/>
                </a:solidFill>
                <a:latin typeface="TT Hoves Bold Italics"/>
                <a:ea typeface="TT Hoves Bold Italics"/>
                <a:cs typeface="TT Hoves Bold Italics"/>
                <a:sym typeface="TT Hoves Bold Italics"/>
              </a:rPr>
              <a:t>Admin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811358" y="4674018"/>
            <a:ext cx="2272376" cy="392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10"/>
              </a:lnSpc>
            </a:pPr>
            <a:r>
              <a:rPr lang="en-US" sz="3000" b="1" i="1" spc="-144">
                <a:solidFill>
                  <a:srgbClr val="EFEFEF"/>
                </a:solidFill>
                <a:latin typeface="TT Hoves Bold Italics"/>
                <a:ea typeface="TT Hoves Bold Italics"/>
                <a:cs typeface="TT Hoves Bold Italics"/>
                <a:sym typeface="TT Hoves Bold Italics"/>
              </a:rPr>
              <a:t>Risorse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71343" y="2141726"/>
            <a:ext cx="2826598" cy="2542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952"/>
              </a:lnSpc>
            </a:pPr>
            <a:r>
              <a:rPr lang="en-US" sz="19538" b="1" spc="-937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37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28700" y="5077278"/>
            <a:ext cx="2272376" cy="1742267"/>
            <a:chOff x="0" y="0"/>
            <a:chExt cx="559536" cy="4290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59536" cy="429005"/>
            </a:xfrm>
            <a:custGeom>
              <a:avLst/>
              <a:gdLst/>
              <a:ahLst/>
              <a:cxnLst/>
              <a:rect l="l" t="t" r="r" b="b"/>
              <a:pathLst>
                <a:path w="559536" h="429005">
                  <a:moveTo>
                    <a:pt x="0" y="0"/>
                  </a:moveTo>
                  <a:lnTo>
                    <a:pt x="559536" y="0"/>
                  </a:lnTo>
                  <a:lnTo>
                    <a:pt x="559536" y="429005"/>
                  </a:lnTo>
                  <a:lnTo>
                    <a:pt x="0" y="429005"/>
                  </a:lnTo>
                  <a:close/>
                </a:path>
              </a:pathLst>
            </a:custGeom>
            <a:solidFill>
              <a:srgbClr val="9084F9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559536" cy="4861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724365" y="5077278"/>
            <a:ext cx="2272376" cy="1742267"/>
            <a:chOff x="0" y="0"/>
            <a:chExt cx="559536" cy="42900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59536" cy="429005"/>
            </a:xfrm>
            <a:custGeom>
              <a:avLst/>
              <a:gdLst/>
              <a:ahLst/>
              <a:cxnLst/>
              <a:rect l="l" t="t" r="r" b="b"/>
              <a:pathLst>
                <a:path w="559536" h="429005">
                  <a:moveTo>
                    <a:pt x="0" y="0"/>
                  </a:moveTo>
                  <a:lnTo>
                    <a:pt x="559536" y="0"/>
                  </a:lnTo>
                  <a:lnTo>
                    <a:pt x="559536" y="429005"/>
                  </a:lnTo>
                  <a:lnTo>
                    <a:pt x="0" y="429005"/>
                  </a:lnTo>
                  <a:close/>
                </a:path>
              </a:pathLst>
            </a:custGeom>
            <a:solidFill>
              <a:srgbClr val="9084F9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559536" cy="4861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20029" y="5077278"/>
            <a:ext cx="2272376" cy="1742267"/>
            <a:chOff x="0" y="0"/>
            <a:chExt cx="559536" cy="42900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59536" cy="429005"/>
            </a:xfrm>
            <a:custGeom>
              <a:avLst/>
              <a:gdLst/>
              <a:ahLst/>
              <a:cxnLst/>
              <a:rect l="l" t="t" r="r" b="b"/>
              <a:pathLst>
                <a:path w="559536" h="429005">
                  <a:moveTo>
                    <a:pt x="0" y="0"/>
                  </a:moveTo>
                  <a:lnTo>
                    <a:pt x="559536" y="0"/>
                  </a:lnTo>
                  <a:lnTo>
                    <a:pt x="559536" y="429005"/>
                  </a:lnTo>
                  <a:lnTo>
                    <a:pt x="0" y="429005"/>
                  </a:lnTo>
                  <a:close/>
                </a:path>
              </a:pathLst>
            </a:custGeom>
            <a:solidFill>
              <a:srgbClr val="9084F9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559536" cy="4861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15694" y="5077278"/>
            <a:ext cx="2272376" cy="1742267"/>
            <a:chOff x="0" y="0"/>
            <a:chExt cx="559536" cy="42900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59536" cy="429005"/>
            </a:xfrm>
            <a:custGeom>
              <a:avLst/>
              <a:gdLst/>
              <a:ahLst/>
              <a:cxnLst/>
              <a:rect l="l" t="t" r="r" b="b"/>
              <a:pathLst>
                <a:path w="559536" h="429005">
                  <a:moveTo>
                    <a:pt x="0" y="0"/>
                  </a:moveTo>
                  <a:lnTo>
                    <a:pt x="559536" y="0"/>
                  </a:lnTo>
                  <a:lnTo>
                    <a:pt x="559536" y="429005"/>
                  </a:lnTo>
                  <a:lnTo>
                    <a:pt x="0" y="429005"/>
                  </a:lnTo>
                  <a:close/>
                </a:path>
              </a:pathLst>
            </a:custGeom>
            <a:solidFill>
              <a:srgbClr val="9084F9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559536" cy="4861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811358" y="5077278"/>
            <a:ext cx="2272376" cy="1742267"/>
            <a:chOff x="0" y="0"/>
            <a:chExt cx="559536" cy="42900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59536" cy="429005"/>
            </a:xfrm>
            <a:custGeom>
              <a:avLst/>
              <a:gdLst/>
              <a:ahLst/>
              <a:cxnLst/>
              <a:rect l="l" t="t" r="r" b="b"/>
              <a:pathLst>
                <a:path w="559536" h="429005">
                  <a:moveTo>
                    <a:pt x="0" y="0"/>
                  </a:moveTo>
                  <a:lnTo>
                    <a:pt x="559536" y="0"/>
                  </a:lnTo>
                  <a:lnTo>
                    <a:pt x="559536" y="429005"/>
                  </a:lnTo>
                  <a:lnTo>
                    <a:pt x="0" y="429005"/>
                  </a:lnTo>
                  <a:close/>
                </a:path>
              </a:pathLst>
            </a:custGeom>
            <a:solidFill>
              <a:srgbClr val="9084F9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559536" cy="4861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028700" y="5329922"/>
            <a:ext cx="2257681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/login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/me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/logout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719685" y="5329269"/>
            <a:ext cx="2281734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/create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/public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/join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430045" y="5358497"/>
            <a:ext cx="2272376" cy="530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4" lvl="1" indent="-172722" algn="l">
              <a:lnSpc>
                <a:spcPts val="2240"/>
              </a:lnSpc>
              <a:buFont typeface="Arial"/>
              <a:buChar char="•"/>
            </a:pPr>
            <a:r>
              <a:rPr lang="en-US" sz="1600" b="1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/{id}/moderator/decision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121030" y="5358497"/>
            <a:ext cx="2272376" cy="254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4" lvl="1" indent="-172722" algn="l">
              <a:lnSpc>
                <a:spcPts val="2240"/>
              </a:lnSpc>
              <a:buFont typeface="Arial"/>
              <a:buChar char="•"/>
            </a:pPr>
            <a:r>
              <a:rPr lang="en-US" sz="1600" b="1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/users/{id}/ban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811358" y="5358497"/>
            <a:ext cx="2272376" cy="530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4" lvl="1" indent="-172722" algn="l">
              <a:lnSpc>
                <a:spcPts val="2240"/>
              </a:lnSpc>
              <a:buFont typeface="Arial"/>
              <a:buChar char="•"/>
            </a:pPr>
            <a:r>
              <a:rPr lang="en-US" sz="1600" b="1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/cities</a:t>
            </a:r>
          </a:p>
          <a:p>
            <a:pPr marL="345444" lvl="1" indent="-172722" algn="l">
              <a:lnSpc>
                <a:spcPts val="2240"/>
              </a:lnSpc>
              <a:buFont typeface="Arial"/>
              <a:buChar char="•"/>
            </a:pPr>
            <a:r>
              <a:rPr lang="en-US" sz="1600" b="1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/categories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32888" y="6810020"/>
            <a:ext cx="2272376" cy="254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1">
                <a:solidFill>
                  <a:srgbClr val="564DBB"/>
                </a:solidFill>
                <a:latin typeface="TT Hoves Bold"/>
                <a:ea typeface="TT Hoves Bold"/>
                <a:cs typeface="TT Hoves Bold"/>
                <a:sym typeface="TT Hoves Bold"/>
              </a:rPr>
              <a:t>more...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715006" y="6810020"/>
            <a:ext cx="2272376" cy="254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1">
                <a:solidFill>
                  <a:srgbClr val="564DBB"/>
                </a:solidFill>
                <a:latin typeface="TT Hoves Bold"/>
                <a:ea typeface="TT Hoves Bold"/>
                <a:cs typeface="TT Hoves Bold"/>
                <a:sym typeface="TT Hoves Bold"/>
              </a:rPr>
              <a:t>more...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415841" y="6800495"/>
            <a:ext cx="2272376" cy="254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1">
                <a:solidFill>
                  <a:srgbClr val="564DBB"/>
                </a:solidFill>
                <a:latin typeface="TT Hoves Bold"/>
                <a:ea typeface="TT Hoves Bold"/>
                <a:cs typeface="TT Hoves Bold"/>
                <a:sym typeface="TT Hoves Bold"/>
              </a:rPr>
              <a:t>more...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121030" y="6810020"/>
            <a:ext cx="2272376" cy="254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1">
                <a:solidFill>
                  <a:srgbClr val="564DBB"/>
                </a:solidFill>
                <a:latin typeface="TT Hoves Bold"/>
                <a:ea typeface="TT Hoves Bold"/>
                <a:cs typeface="TT Hoves Bold"/>
                <a:sym typeface="TT Hoves Bold"/>
              </a:rPr>
              <a:t>more...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822031" y="6810020"/>
            <a:ext cx="2272376" cy="254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1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more...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672061" y="1025292"/>
            <a:ext cx="5587239" cy="2662922"/>
            <a:chOff x="0" y="0"/>
            <a:chExt cx="2065940" cy="9846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65940" cy="984643"/>
            </a:xfrm>
            <a:custGeom>
              <a:avLst/>
              <a:gdLst/>
              <a:ahLst/>
              <a:cxnLst/>
              <a:rect l="l" t="t" r="r" b="b"/>
              <a:pathLst>
                <a:path w="2065940" h="984643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solidFill>
              <a:srgbClr val="0003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674833" y="3813743"/>
            <a:ext cx="5587239" cy="2662922"/>
            <a:chOff x="0" y="0"/>
            <a:chExt cx="2065940" cy="9846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65940" cy="984643"/>
            </a:xfrm>
            <a:custGeom>
              <a:avLst/>
              <a:gdLst/>
              <a:ahLst/>
              <a:cxnLst/>
              <a:rect l="l" t="t" r="r" b="b"/>
              <a:pathLst>
                <a:path w="2065940" h="984643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solidFill>
              <a:srgbClr val="0003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416809" y="7139097"/>
            <a:ext cx="6393149" cy="4116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64"/>
              </a:lnSpc>
            </a:pPr>
            <a:r>
              <a:rPr lang="en-US" sz="32302" b="1" spc="-158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06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1672061" y="6600490"/>
            <a:ext cx="5587239" cy="2662922"/>
            <a:chOff x="0" y="0"/>
            <a:chExt cx="2065940" cy="98464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65940" cy="984643"/>
            </a:xfrm>
            <a:custGeom>
              <a:avLst/>
              <a:gdLst/>
              <a:ahLst/>
              <a:cxnLst/>
              <a:rect l="l" t="t" r="r" b="b"/>
              <a:pathLst>
                <a:path w="2065940" h="984643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solidFill>
              <a:srgbClr val="0003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-3126789" y="-2986203"/>
            <a:ext cx="9584989" cy="9584989"/>
          </a:xfrm>
          <a:custGeom>
            <a:avLst/>
            <a:gdLst/>
            <a:ahLst/>
            <a:cxnLst/>
            <a:rect l="l" t="t" r="r" b="b"/>
            <a:pathLst>
              <a:path w="9584989" h="9584989">
                <a:moveTo>
                  <a:pt x="0" y="0"/>
                </a:moveTo>
                <a:lnTo>
                  <a:pt x="9584989" y="0"/>
                </a:lnTo>
                <a:lnTo>
                  <a:pt x="9584989" y="9584989"/>
                </a:lnTo>
                <a:lnTo>
                  <a:pt x="0" y="95849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3" name="Group 13"/>
          <p:cNvGrpSpPr/>
          <p:nvPr/>
        </p:nvGrpSpPr>
        <p:grpSpPr>
          <a:xfrm>
            <a:off x="1028700" y="1028700"/>
            <a:ext cx="5587239" cy="2662922"/>
            <a:chOff x="0" y="0"/>
            <a:chExt cx="2065940" cy="98464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65940" cy="984643"/>
            </a:xfrm>
            <a:custGeom>
              <a:avLst/>
              <a:gdLst/>
              <a:ahLst/>
              <a:cxnLst/>
              <a:rect l="l" t="t" r="r" b="b"/>
              <a:pathLst>
                <a:path w="2065940" h="984643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solidFill>
              <a:srgbClr val="0003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28700" y="3813743"/>
            <a:ext cx="5587239" cy="2662922"/>
            <a:chOff x="0" y="0"/>
            <a:chExt cx="2065940" cy="98464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65940" cy="984643"/>
            </a:xfrm>
            <a:custGeom>
              <a:avLst/>
              <a:gdLst/>
              <a:ahLst/>
              <a:cxnLst/>
              <a:rect l="l" t="t" r="r" b="b"/>
              <a:pathLst>
                <a:path w="2065940" h="984643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solidFill>
              <a:srgbClr val="0003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28700" y="6598786"/>
            <a:ext cx="5587239" cy="2662922"/>
            <a:chOff x="0" y="0"/>
            <a:chExt cx="2065940" cy="98464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065940" cy="984643"/>
            </a:xfrm>
            <a:custGeom>
              <a:avLst/>
              <a:gdLst/>
              <a:ahLst/>
              <a:cxnLst/>
              <a:rect l="l" t="t" r="r" b="b"/>
              <a:pathLst>
                <a:path w="2065940" h="984643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solidFill>
              <a:srgbClr val="0003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 rot="-7900054">
            <a:off x="7348622" y="2133028"/>
            <a:ext cx="1012981" cy="454921"/>
          </a:xfrm>
          <a:custGeom>
            <a:avLst/>
            <a:gdLst/>
            <a:ahLst/>
            <a:cxnLst/>
            <a:rect l="l" t="t" r="r" b="b"/>
            <a:pathLst>
              <a:path w="1012981" h="454921">
                <a:moveTo>
                  <a:pt x="0" y="0"/>
                </a:moveTo>
                <a:lnTo>
                  <a:pt x="1012982" y="0"/>
                </a:lnTo>
                <a:lnTo>
                  <a:pt x="1012982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3" name="Freeform 23"/>
          <p:cNvSpPr/>
          <p:nvPr/>
        </p:nvSpPr>
        <p:spPr>
          <a:xfrm rot="-2700000">
            <a:off x="10017119" y="2144497"/>
            <a:ext cx="1012981" cy="454921"/>
          </a:xfrm>
          <a:custGeom>
            <a:avLst/>
            <a:gdLst/>
            <a:ahLst/>
            <a:cxnLst/>
            <a:rect l="l" t="t" r="r" b="b"/>
            <a:pathLst>
              <a:path w="1012981" h="454921">
                <a:moveTo>
                  <a:pt x="0" y="0"/>
                </a:moveTo>
                <a:lnTo>
                  <a:pt x="1012982" y="0"/>
                </a:lnTo>
                <a:lnTo>
                  <a:pt x="1012982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4" name="Freeform 24"/>
          <p:cNvSpPr/>
          <p:nvPr/>
        </p:nvSpPr>
        <p:spPr>
          <a:xfrm rot="3209977">
            <a:off x="9982257" y="7689589"/>
            <a:ext cx="1012981" cy="454921"/>
          </a:xfrm>
          <a:custGeom>
            <a:avLst/>
            <a:gdLst/>
            <a:ahLst/>
            <a:cxnLst/>
            <a:rect l="l" t="t" r="r" b="b"/>
            <a:pathLst>
              <a:path w="1012981" h="454921">
                <a:moveTo>
                  <a:pt x="0" y="0"/>
                </a:moveTo>
                <a:lnTo>
                  <a:pt x="1012981" y="0"/>
                </a:lnTo>
                <a:lnTo>
                  <a:pt x="1012981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5" name="Freeform 25"/>
          <p:cNvSpPr/>
          <p:nvPr/>
        </p:nvSpPr>
        <p:spPr>
          <a:xfrm rot="7866361">
            <a:off x="7243302" y="7665457"/>
            <a:ext cx="1012981" cy="454921"/>
          </a:xfrm>
          <a:custGeom>
            <a:avLst/>
            <a:gdLst/>
            <a:ahLst/>
            <a:cxnLst/>
            <a:rect l="l" t="t" r="r" b="b"/>
            <a:pathLst>
              <a:path w="1012981" h="454921">
                <a:moveTo>
                  <a:pt x="0" y="0"/>
                </a:moveTo>
                <a:lnTo>
                  <a:pt x="1012982" y="0"/>
                </a:lnTo>
                <a:lnTo>
                  <a:pt x="1012982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6" name="TextBox 26"/>
          <p:cNvSpPr txBox="1"/>
          <p:nvPr/>
        </p:nvSpPr>
        <p:spPr>
          <a:xfrm>
            <a:off x="6851292" y="4423150"/>
            <a:ext cx="4585415" cy="959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7178"/>
              </a:lnSpc>
              <a:spcBef>
                <a:spcPct val="0"/>
              </a:spcBef>
            </a:pPr>
            <a:r>
              <a:rPr lang="en-US" sz="7400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Database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3280800" y="1743487"/>
            <a:ext cx="3177400" cy="1256941"/>
            <a:chOff x="0" y="0"/>
            <a:chExt cx="4236533" cy="1675921"/>
          </a:xfrm>
        </p:grpSpPr>
        <p:sp>
          <p:nvSpPr>
            <p:cNvPr id="28" name="TextBox 28"/>
            <p:cNvSpPr txBox="1"/>
            <p:nvPr/>
          </p:nvSpPr>
          <p:spPr>
            <a:xfrm>
              <a:off x="0" y="85725"/>
              <a:ext cx="4236533" cy="7158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831"/>
                </a:lnSpc>
                <a:spcBef>
                  <a:spcPct val="0"/>
                </a:spcBef>
              </a:pPr>
              <a:r>
                <a:rPr lang="en-US" sz="3949" b="1">
                  <a:solidFill>
                    <a:srgbClr val="EFEFE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AppUser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976362"/>
              <a:ext cx="4013870" cy="6995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2000"/>
                </a:lnSpc>
              </a:pPr>
              <a:r>
                <a:rPr lang="en-US" sz="2000" spc="2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Utenti con ruoli (Admin, Ristoratore, Utente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280800" y="4516734"/>
            <a:ext cx="3177400" cy="1256941"/>
            <a:chOff x="0" y="0"/>
            <a:chExt cx="4236533" cy="1675921"/>
          </a:xfrm>
        </p:grpSpPr>
        <p:sp>
          <p:nvSpPr>
            <p:cNvPr id="31" name="TextBox 31"/>
            <p:cNvSpPr txBox="1"/>
            <p:nvPr/>
          </p:nvSpPr>
          <p:spPr>
            <a:xfrm>
              <a:off x="0" y="85725"/>
              <a:ext cx="4236533" cy="7158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831"/>
                </a:lnSpc>
                <a:spcBef>
                  <a:spcPct val="0"/>
                </a:spcBef>
              </a:pPr>
              <a:r>
                <a:rPr lang="en-US" sz="3949" b="1">
                  <a:solidFill>
                    <a:srgbClr val="EFEFE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Restaurant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976362"/>
              <a:ext cx="4013870" cy="6995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2000"/>
                </a:lnSpc>
              </a:pPr>
              <a:r>
                <a:rPr lang="en-US" sz="2000" spc="2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Legato con proprietario e cità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3873484" y="1755201"/>
            <a:ext cx="3177400" cy="1233513"/>
            <a:chOff x="0" y="0"/>
            <a:chExt cx="4236533" cy="1644684"/>
          </a:xfrm>
        </p:grpSpPr>
        <p:sp>
          <p:nvSpPr>
            <p:cNvPr id="34" name="TextBox 34"/>
            <p:cNvSpPr txBox="1"/>
            <p:nvPr/>
          </p:nvSpPr>
          <p:spPr>
            <a:xfrm>
              <a:off x="0" y="85725"/>
              <a:ext cx="4236533" cy="6845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686"/>
                </a:lnSpc>
                <a:spcBef>
                  <a:spcPct val="0"/>
                </a:spcBef>
              </a:pPr>
              <a:r>
                <a:rPr lang="en-US" sz="3800" b="1">
                  <a:solidFill>
                    <a:srgbClr val="EFEFE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Partecipation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945126"/>
              <a:ext cx="4013870" cy="6995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2000"/>
                </a:lnSpc>
              </a:pPr>
              <a:r>
                <a:rPr lang="en-US" sz="2000" spc="2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Tabella di legame molti-a-molti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3876256" y="4652273"/>
            <a:ext cx="3177400" cy="985863"/>
            <a:chOff x="0" y="0"/>
            <a:chExt cx="4236533" cy="1314484"/>
          </a:xfrm>
        </p:grpSpPr>
        <p:sp>
          <p:nvSpPr>
            <p:cNvPr id="37" name="TextBox 37"/>
            <p:cNvSpPr txBox="1"/>
            <p:nvPr/>
          </p:nvSpPr>
          <p:spPr>
            <a:xfrm>
              <a:off x="0" y="85725"/>
              <a:ext cx="4236533" cy="6845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686"/>
                </a:lnSpc>
                <a:spcBef>
                  <a:spcPct val="0"/>
                </a:spcBef>
              </a:pPr>
              <a:r>
                <a:rPr lang="en-US" sz="3800" b="1">
                  <a:solidFill>
                    <a:srgbClr val="EFEFE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City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945126"/>
              <a:ext cx="4013870" cy="3693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2000"/>
                </a:lnSpc>
              </a:pPr>
              <a:r>
                <a:rPr lang="en-US" sz="2000" spc="2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Tabella di riferimento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3873484" y="7454224"/>
            <a:ext cx="3177400" cy="985863"/>
            <a:chOff x="0" y="0"/>
            <a:chExt cx="4236533" cy="1314484"/>
          </a:xfrm>
        </p:grpSpPr>
        <p:sp>
          <p:nvSpPr>
            <p:cNvPr id="40" name="TextBox 40"/>
            <p:cNvSpPr txBox="1"/>
            <p:nvPr/>
          </p:nvSpPr>
          <p:spPr>
            <a:xfrm>
              <a:off x="0" y="85725"/>
              <a:ext cx="4236533" cy="6845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686"/>
                </a:lnSpc>
                <a:spcBef>
                  <a:spcPct val="0"/>
                </a:spcBef>
              </a:pPr>
              <a:r>
                <a:rPr lang="en-US" sz="3800" b="1">
                  <a:solidFill>
                    <a:srgbClr val="EFEFE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Category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945126"/>
              <a:ext cx="4013870" cy="3693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2000"/>
                </a:lnSpc>
              </a:pPr>
              <a:r>
                <a:rPr lang="en-US" sz="2000" spc="2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Tabella di riferimento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280800" y="7301777"/>
            <a:ext cx="3177400" cy="1256941"/>
            <a:chOff x="0" y="0"/>
            <a:chExt cx="4236533" cy="1675921"/>
          </a:xfrm>
        </p:grpSpPr>
        <p:sp>
          <p:nvSpPr>
            <p:cNvPr id="43" name="TextBox 43"/>
            <p:cNvSpPr txBox="1"/>
            <p:nvPr/>
          </p:nvSpPr>
          <p:spPr>
            <a:xfrm>
              <a:off x="0" y="85725"/>
              <a:ext cx="4236533" cy="7158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831"/>
                </a:lnSpc>
                <a:spcBef>
                  <a:spcPct val="0"/>
                </a:spcBef>
              </a:pPr>
              <a:r>
                <a:rPr lang="en-US" sz="3949" b="1">
                  <a:solidFill>
                    <a:srgbClr val="EFEFE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SocialEvent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976362"/>
              <a:ext cx="4013870" cy="6995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2000"/>
                </a:lnSpc>
              </a:pPr>
              <a:r>
                <a:rPr lang="en-US" sz="2000" spc="2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Centro del sistema (stato Pending/Approved)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7362365" y="5570826"/>
            <a:ext cx="3563270" cy="396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2"/>
              </a:lnSpc>
            </a:pPr>
            <a:r>
              <a:rPr lang="en-US" sz="29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MySQL 8.0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509697" y="1825939"/>
            <a:ext cx="1771103" cy="1368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57"/>
              </a:lnSpc>
            </a:pPr>
            <a:r>
              <a:rPr lang="en-US" sz="10806" b="1" spc="-52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509697" y="7332211"/>
            <a:ext cx="1771103" cy="1368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57"/>
              </a:lnSpc>
            </a:pPr>
            <a:r>
              <a:rPr lang="en-US" sz="10806" b="1" spc="-52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509697" y="4599186"/>
            <a:ext cx="1771103" cy="1368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57"/>
              </a:lnSpc>
            </a:pPr>
            <a:r>
              <a:rPr lang="en-US" sz="10806" b="1" spc="-52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102381" y="1810735"/>
            <a:ext cx="1771103" cy="1368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57"/>
              </a:lnSpc>
            </a:pPr>
            <a:r>
              <a:rPr lang="en-US" sz="10806" b="1" spc="-52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105152" y="4599186"/>
            <a:ext cx="1771103" cy="1368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57"/>
              </a:lnSpc>
            </a:pPr>
            <a:r>
              <a:rPr lang="en-US" sz="10806" b="1" spc="-52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05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2102381" y="7385933"/>
            <a:ext cx="1771103" cy="1368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57"/>
              </a:lnSpc>
            </a:pPr>
            <a:r>
              <a:rPr lang="en-US" sz="10806" b="1" spc="-52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06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96695" y="2412988"/>
            <a:ext cx="4609698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50"/>
              </a:lnSpc>
            </a:pPr>
            <a:r>
              <a:rPr lang="en-US" sz="5000" b="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Dettagli curati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996695" y="3354209"/>
            <a:ext cx="8936668" cy="4596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4056"/>
              </a:lnSpc>
              <a:buFont typeface="Arial"/>
              <a:buChar char="•"/>
            </a:pPr>
            <a:r>
              <a:rPr lang="en-US" sz="260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Logica Benefit: La pizzeria come hub sociale</a:t>
            </a:r>
          </a:p>
          <a:p>
            <a:pPr marL="561341" lvl="1" indent="-280670" algn="l">
              <a:lnSpc>
                <a:spcPts val="4056"/>
              </a:lnSpc>
              <a:buFont typeface="Arial"/>
              <a:buChar char="•"/>
            </a:pPr>
            <a:r>
              <a:rPr lang="en-US" sz="260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Auto-Join: Iscrizione automatica dell'organizzatore all'approvazione</a:t>
            </a:r>
          </a:p>
          <a:p>
            <a:pPr marL="561341" lvl="1" indent="-280670" algn="l">
              <a:lnSpc>
                <a:spcPts val="4056"/>
              </a:lnSpc>
              <a:buFont typeface="Arial"/>
              <a:buChar char="•"/>
            </a:pPr>
            <a:r>
              <a:rPr lang="en-US" sz="260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Sicurezza: LoginFilter personalizzato per bloccare accessi non autorizzati</a:t>
            </a:r>
          </a:p>
          <a:p>
            <a:pPr marL="561341" lvl="1" indent="-280670" algn="l">
              <a:lnSpc>
                <a:spcPts val="4056"/>
              </a:lnSpc>
              <a:buFont typeface="Arial"/>
              <a:buChar char="•"/>
            </a:pPr>
            <a:r>
              <a:rPr lang="en-US" sz="260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Salvataggio sessione per evitare login ripetuto</a:t>
            </a:r>
          </a:p>
          <a:p>
            <a:pPr marL="561341" lvl="1" indent="-280670" algn="l">
              <a:lnSpc>
                <a:spcPts val="4056"/>
              </a:lnSpc>
              <a:buFont typeface="Arial"/>
              <a:buChar char="•"/>
            </a:pPr>
            <a:r>
              <a:rPr lang="en-US" sz="260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Persistenza dei dati su database strutturato</a:t>
            </a:r>
          </a:p>
          <a:p>
            <a:pPr marL="561341" lvl="1" indent="-280670" algn="l">
              <a:lnSpc>
                <a:spcPts val="4056"/>
              </a:lnSpc>
              <a:buFont typeface="Arial"/>
              <a:buChar char="•"/>
            </a:pPr>
            <a:r>
              <a:rPr lang="en-US" sz="260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Validazioni business logic che proteggono l'integrità</a:t>
            </a:r>
          </a:p>
          <a:p>
            <a:pPr algn="l">
              <a:lnSpc>
                <a:spcPts val="4056"/>
              </a:lnSpc>
            </a:pPr>
            <a:endParaRPr lang="en-US" sz="2600">
              <a:solidFill>
                <a:srgbClr val="343434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2823805" y="5974763"/>
            <a:ext cx="7624730" cy="7624730"/>
          </a:xfrm>
          <a:custGeom>
            <a:avLst/>
            <a:gdLst/>
            <a:ahLst/>
            <a:cxnLst/>
            <a:rect l="l" t="t" r="r" b="b"/>
            <a:pathLst>
              <a:path w="7624730" h="7624730">
                <a:moveTo>
                  <a:pt x="0" y="0"/>
                </a:moveTo>
                <a:lnTo>
                  <a:pt x="7624731" y="0"/>
                </a:lnTo>
                <a:lnTo>
                  <a:pt x="7624731" y="7624730"/>
                </a:lnTo>
                <a:lnTo>
                  <a:pt x="0" y="76247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5" name="Group 5"/>
          <p:cNvGrpSpPr/>
          <p:nvPr/>
        </p:nvGrpSpPr>
        <p:grpSpPr>
          <a:xfrm>
            <a:off x="6536949" y="2592101"/>
            <a:ext cx="273982" cy="245024"/>
            <a:chOff x="0" y="0"/>
            <a:chExt cx="91718" cy="820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1718" cy="82024"/>
            </a:xfrm>
            <a:custGeom>
              <a:avLst/>
              <a:gdLst/>
              <a:ahLst/>
              <a:cxnLst/>
              <a:rect l="l" t="t" r="r" b="b"/>
              <a:pathLst>
                <a:path w="91718" h="82024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822665" y="-795948"/>
            <a:ext cx="7178388" cy="11878896"/>
            <a:chOff x="0" y="0"/>
            <a:chExt cx="1890604" cy="31285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90604" cy="3128598"/>
            </a:xfrm>
            <a:custGeom>
              <a:avLst/>
              <a:gdLst/>
              <a:ahLst/>
              <a:cxnLst/>
              <a:rect l="l" t="t" r="r" b="b"/>
              <a:pathLst>
                <a:path w="1890604" h="3128598">
                  <a:moveTo>
                    <a:pt x="0" y="0"/>
                  </a:moveTo>
                  <a:lnTo>
                    <a:pt x="1890604" y="0"/>
                  </a:lnTo>
                  <a:lnTo>
                    <a:pt x="1890604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890604" cy="3185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 rot="-5400000">
            <a:off x="-2015890" y="2940934"/>
            <a:ext cx="10287000" cy="4405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913"/>
              </a:lnSpc>
            </a:pPr>
            <a:r>
              <a:rPr lang="en-US" sz="16913" b="1" spc="-811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Note particolari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-707284" y="-253023"/>
            <a:ext cx="3677731" cy="2845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6"/>
              </a:lnSpc>
            </a:pPr>
            <a:r>
              <a:rPr lang="en-US" sz="22241" b="1" spc="-108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08</a:t>
            </a: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430063" y="1936909"/>
            <a:ext cx="11221859" cy="11221859"/>
          </a:xfrm>
          <a:custGeom>
            <a:avLst/>
            <a:gdLst/>
            <a:ahLst/>
            <a:cxnLst/>
            <a:rect l="l" t="t" r="r" b="b"/>
            <a:pathLst>
              <a:path w="11221859" h="11221859">
                <a:moveTo>
                  <a:pt x="0" y="0"/>
                </a:moveTo>
                <a:lnTo>
                  <a:pt x="11221858" y="0"/>
                </a:lnTo>
                <a:lnTo>
                  <a:pt x="11221858" y="11221858"/>
                </a:lnTo>
                <a:lnTo>
                  <a:pt x="0" y="11221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-696258" y="-450527"/>
            <a:ext cx="19680517" cy="1704491"/>
            <a:chOff x="0" y="0"/>
            <a:chExt cx="5183346" cy="4489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83346" cy="448919"/>
            </a:xfrm>
            <a:custGeom>
              <a:avLst/>
              <a:gdLst/>
              <a:ahLst/>
              <a:cxnLst/>
              <a:rect l="l" t="t" r="r" b="b"/>
              <a:pathLst>
                <a:path w="5183346" h="448919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solidFill>
              <a:srgbClr val="0003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4141979" y="344568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AA 2025/26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44568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TWeb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85339" y="344568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Social Pizza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4590" y="344568"/>
            <a:ext cx="140626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30761" y="344568"/>
            <a:ext cx="140626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79553" y="4244252"/>
            <a:ext cx="13928894" cy="1401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340"/>
              </a:lnSpc>
            </a:pPr>
            <a:r>
              <a:rPr lang="en-US" sz="11000" b="1" spc="-539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Grazie per l’attenzione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14102" y="6283872"/>
            <a:ext cx="8459795" cy="578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81"/>
              </a:lnSpc>
            </a:pPr>
            <a:r>
              <a:rPr lang="en-US" sz="4381" spc="-87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Walter Barruco - Luigi</a:t>
            </a:r>
          </a:p>
        </p:txBody>
      </p:sp>
      <p:sp>
        <p:nvSpPr>
          <p:cNvPr id="13" name="TextBox 13"/>
          <p:cNvSpPr txBox="1"/>
          <p:nvPr/>
        </p:nvSpPr>
        <p:spPr>
          <a:xfrm rot="2546381">
            <a:off x="8181293" y="7434478"/>
            <a:ext cx="1796863" cy="1330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 spc="-199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🍕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485</Words>
  <Application>Microsoft Office PowerPoint</Application>
  <PresentationFormat>Personalizzato</PresentationFormat>
  <Paragraphs>153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6" baseType="lpstr">
      <vt:lpstr>TT Hoves Bold Italics</vt:lpstr>
      <vt:lpstr>Calibri</vt:lpstr>
      <vt:lpstr>TT Hoves Bold</vt:lpstr>
      <vt:lpstr>Arial</vt:lpstr>
      <vt:lpstr>TT Hoves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Thynk Unlimited</dc:title>
  <cp:lastModifiedBy>Walter Barucco</cp:lastModifiedBy>
  <cp:revision>3</cp:revision>
  <dcterms:created xsi:type="dcterms:W3CDTF">2006-08-16T00:00:00Z</dcterms:created>
  <dcterms:modified xsi:type="dcterms:W3CDTF">2026-01-30T14:48:24Z</dcterms:modified>
  <dc:identifier>DAG_0tg79Bw</dc:identifier>
</cp:coreProperties>
</file>